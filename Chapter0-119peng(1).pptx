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59" r:id="rId3"/>
    <p:sldId id="348" r:id="rId4"/>
    <p:sldId id="306" r:id="rId5"/>
    <p:sldId id="307" r:id="rId6"/>
    <p:sldId id="308" r:id="rId7"/>
    <p:sldId id="310" r:id="rId8"/>
    <p:sldId id="350" r:id="rId9"/>
    <p:sldId id="353" r:id="rId10"/>
    <p:sldId id="351" r:id="rId11"/>
    <p:sldId id="316" r:id="rId12"/>
    <p:sldId id="317" r:id="rId13"/>
    <p:sldId id="303" r:id="rId14"/>
    <p:sldId id="302" r:id="rId16"/>
    <p:sldId id="335" r:id="rId17"/>
    <p:sldId id="300" r:id="rId18"/>
    <p:sldId id="311" r:id="rId19"/>
    <p:sldId id="294" r:id="rId20"/>
    <p:sldId id="320" r:id="rId21"/>
    <p:sldId id="292" r:id="rId22"/>
    <p:sldId id="293" r:id="rId23"/>
    <p:sldId id="321" r:id="rId24"/>
    <p:sldId id="295" r:id="rId25"/>
    <p:sldId id="324" r:id="rId26"/>
    <p:sldId id="349" r:id="rId27"/>
    <p:sldId id="326" r:id="rId28"/>
    <p:sldId id="327" r:id="rId29"/>
    <p:sldId id="337" r:id="rId30"/>
    <p:sldId id="328" r:id="rId31"/>
    <p:sldId id="341" r:id="rId32"/>
    <p:sldId id="271" r:id="rId33"/>
    <p:sldId id="344" r:id="rId34"/>
    <p:sldId id="267" r:id="rId35"/>
    <p:sldId id="345" r:id="rId36"/>
    <p:sldId id="346" r:id="rId37"/>
    <p:sldId id="347"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327"/>
  </p:normalViewPr>
  <p:slideViewPr>
    <p:cSldViewPr snapToGrid="0" snapToObjects="1">
      <p:cViewPr varScale="1">
        <p:scale>
          <a:sx n="117" d="100"/>
          <a:sy n="117" d="100"/>
        </p:scale>
        <p:origin x="141" y="5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Becky\Desktop\New%20Microsoft%20Excel%20Worksheet.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Becky\Desktop\New%20Microsoft%20Excel%20Workshee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0" vertOverflow="ellipsis" vert="horz" wrap="square" anchor="ctr" anchorCtr="1"/>
          <a:lstStyle/>
          <a:p>
            <a:pPr>
              <a:defRPr lang="zh-CN" sz="2400" b="1" i="0" u="none" strike="noStrike" kern="1200" baseline="0">
                <a:solidFill>
                  <a:schemeClr val="tx1"/>
                </a:solidFill>
                <a:latin typeface="+mn-lt"/>
                <a:ea typeface="+mn-ea"/>
                <a:cs typeface="+mn-cs"/>
              </a:defRPr>
            </a:pPr>
            <a:r>
              <a:rPr lang="en-US" sz="2400" dirty="0">
                <a:latin typeface="Arial Unicode MS" panose="020B0604020202020204" pitchFamily="34" charset="-122"/>
                <a:ea typeface="Arial Unicode MS" panose="020B0604020202020204" pitchFamily="34" charset="-122"/>
                <a:cs typeface="Arial Unicode MS" panose="020B0604020202020204" pitchFamily="34" charset="-122"/>
              </a:rPr>
              <a:t>Favorite drink</a:t>
            </a:r>
            <a:endParaRPr lang="zh-CN" sz="2400" dirty="0">
              <a:latin typeface="Arial Unicode MS" panose="020B0604020202020204" pitchFamily="34" charset="-122"/>
              <a:ea typeface="Arial Unicode MS" panose="020B0604020202020204" pitchFamily="34" charset="-122"/>
              <a:cs typeface="Arial Unicode MS" panose="020B0604020202020204" pitchFamily="34" charset="-122"/>
            </a:endParaRPr>
          </a:p>
        </c:rich>
      </c:tx>
      <c:layout>
        <c:manualLayout>
          <c:xMode val="edge"/>
          <c:yMode val="edge"/>
          <c:x val="0.284072341018713"/>
          <c:y val="0.013923891497436"/>
        </c:manualLayout>
      </c:layout>
      <c:overlay val="0"/>
    </c:title>
    <c:autoTitleDeleted val="0"/>
    <c:plotArea>
      <c:layout/>
      <c:barChart>
        <c:barDir val="col"/>
        <c:grouping val="clustered"/>
        <c:varyColors val="0"/>
        <c:ser>
          <c:idx val="0"/>
          <c:order val="0"/>
          <c:tx>
            <c:strRef>
              <c:f>Sheet1!$A$2</c:f>
              <c:strCache>
                <c:ptCount val="1"/>
                <c:pt idx="0">
                  <c:v>Frequency</c:v>
                </c:pt>
              </c:strCache>
            </c:strRef>
          </c:tx>
          <c:invertIfNegative val="0"/>
          <c:dLbls>
            <c:spPr>
              <a:noFill/>
              <a:ln>
                <a:noFill/>
              </a:ln>
              <a:effectLst/>
            </c:spPr>
            <c:txPr>
              <a:bodyPr rot="0" spcFirstLastPara="0" vertOverflow="ellipsis" vert="horz" wrap="square" lIns="38100" tIns="19050" rIns="38100" bIns="19050" anchor="ctr" anchorCtr="1"/>
              <a:lstStyle/>
              <a:p>
                <a:pPr>
                  <a:defRPr lang="zh-CN" sz="16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Sheet1!$B$1:$F$1</c:f>
              <c:strCache>
                <c:ptCount val="5"/>
                <c:pt idx="0">
                  <c:v>Orange Juice</c:v>
                </c:pt>
                <c:pt idx="1">
                  <c:v>Apple Juice</c:v>
                </c:pt>
                <c:pt idx="2">
                  <c:v>Coca Cola</c:v>
                </c:pt>
                <c:pt idx="3">
                  <c:v>Pepsi</c:v>
                </c:pt>
                <c:pt idx="4">
                  <c:v>Lulu</c:v>
                </c:pt>
              </c:strCache>
            </c:strRef>
          </c:cat>
          <c:val>
            <c:numRef>
              <c:f>Sheet1!$B$2:$F$2</c:f>
              <c:numCache>
                <c:formatCode>General</c:formatCode>
                <c:ptCount val="5"/>
                <c:pt idx="0">
                  <c:v>7</c:v>
                </c:pt>
                <c:pt idx="1">
                  <c:v>8</c:v>
                </c:pt>
                <c:pt idx="2">
                  <c:v>17</c:v>
                </c:pt>
                <c:pt idx="3">
                  <c:v>7</c:v>
                </c:pt>
                <c:pt idx="4">
                  <c:v>11</c:v>
                </c:pt>
              </c:numCache>
            </c:numRef>
          </c:val>
        </c:ser>
        <c:dLbls>
          <c:showLegendKey val="0"/>
          <c:showVal val="0"/>
          <c:showCatName val="0"/>
          <c:showSerName val="0"/>
          <c:showPercent val="0"/>
          <c:showBubbleSize val="0"/>
        </c:dLbls>
        <c:gapWidth val="150"/>
        <c:axId val="178386048"/>
        <c:axId val="178387584"/>
      </c:barChart>
      <c:catAx>
        <c:axId val="178386048"/>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2000" b="0" i="0" u="none" strike="noStrike" kern="1200" baseline="0">
                <a:solidFill>
                  <a:schemeClr val="tx1"/>
                </a:solidFill>
                <a:latin typeface="+mn-lt"/>
                <a:ea typeface="+mn-ea"/>
                <a:cs typeface="+mn-cs"/>
              </a:defRPr>
            </a:pPr>
          </a:p>
        </c:txPr>
        <c:crossAx val="178387584"/>
        <c:crosses val="autoZero"/>
        <c:auto val="1"/>
        <c:lblAlgn val="ctr"/>
        <c:lblOffset val="100"/>
        <c:noMultiLvlLbl val="0"/>
      </c:catAx>
      <c:valAx>
        <c:axId val="178387584"/>
        <c:scaling>
          <c:orientation val="minMax"/>
        </c:scaling>
        <c:delete val="1"/>
        <c:axPos val="l"/>
        <c:numFmt formatCode="General" sourceLinked="1"/>
        <c:majorTickMark val="out"/>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crossAx val="178386048"/>
        <c:crosses val="autoZero"/>
        <c:crossBetween val="between"/>
      </c:valAx>
    </c:plotArea>
    <c:legend>
      <c:legendPos val="r"/>
      <c:legendEntry>
        <c:idx val="0"/>
        <c:txPr>
          <a:bodyPr rot="0" spcFirstLastPara="0" vertOverflow="ellipsis" vert="horz" wrap="square" anchor="ctr" anchorCtr="1"/>
          <a:lstStyle/>
          <a:p>
            <a:pPr>
              <a:defRPr lang="zh-CN" sz="2000" b="0" i="0" u="none" strike="noStrike" kern="1200" baseline="0">
                <a:solidFill>
                  <a:schemeClr val="tx1"/>
                </a:solidFill>
                <a:latin typeface="+mn-lt"/>
                <a:ea typeface="+mn-ea"/>
                <a:cs typeface="+mn-cs"/>
              </a:defRPr>
            </a:pPr>
          </a:p>
        </c:txPr>
      </c:legendEntry>
      <c:layout/>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e6bb5648-f04b-45e4-bfea-dc4635bbf122}"/>
      </c:ext>
    </c:extLst>
  </c:chart>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defRPr lang="zh-CN" sz="3200" b="1" i="0" u="none" strike="noStrike" kern="1200" baseline="0">
                <a:solidFill>
                  <a:sysClr val="windowText" lastClr="000000"/>
                </a:solidFill>
                <a:latin typeface="+mn-lt"/>
                <a:ea typeface="+mn-ea"/>
                <a:cs typeface="+mn-cs"/>
              </a:defRPr>
            </a:pPr>
            <a:r>
              <a:rPr lang="en-US" altLang="zh-CN" sz="3200" b="1" i="0" baseline="0">
                <a:effectLst/>
              </a:rPr>
              <a:t>Favorite drink </a:t>
            </a:r>
            <a:endParaRPr lang="zh-CN" altLang="zh-CN" sz="3200">
              <a:effectLst/>
            </a:endParaRPr>
          </a:p>
        </c:rich>
      </c:tx>
      <c:layout>
        <c:manualLayout>
          <c:xMode val="edge"/>
          <c:yMode val="edge"/>
          <c:x val="0.190564644864021"/>
          <c:y val="0.0265761947302659"/>
        </c:manualLayout>
      </c:layout>
      <c:overlay val="0"/>
    </c:title>
    <c:autoTitleDeleted val="0"/>
    <c:plotArea>
      <c:layout/>
      <c:pieChart>
        <c:varyColors val="1"/>
        <c:ser>
          <c:idx val="1"/>
          <c:order val="1"/>
          <c:tx>
            <c:strRef>
              <c:f>Sheet1!$A$3</c:f>
              <c:strCache>
                <c:ptCount val="1"/>
                <c:pt idx="0">
                  <c:v>Percentage</c:v>
                </c:pt>
              </c:strCache>
            </c:strRef>
          </c:tx>
          <c:explosion val="0"/>
          <c:dPt>
            <c:idx val="0"/>
            <c:bubble3D val="0"/>
          </c:dPt>
          <c:dPt>
            <c:idx val="1"/>
            <c:bubble3D val="0"/>
          </c:dPt>
          <c:dPt>
            <c:idx val="2"/>
            <c:bubble3D val="0"/>
          </c:dPt>
          <c:dPt>
            <c:idx val="3"/>
            <c:bubble3D val="0"/>
          </c:dPt>
          <c:dPt>
            <c:idx val="4"/>
            <c:bubble3D val="0"/>
          </c:dPt>
          <c:dLbls>
            <c:spPr>
              <a:noFill/>
              <a:ln>
                <a:noFill/>
              </a:ln>
              <a:effectLst/>
            </c:spPr>
            <c:txPr>
              <a:bodyPr rot="0" spcFirstLastPara="0" vertOverflow="ellipsis" vert="horz" wrap="square" lIns="38100" tIns="19050" rIns="38100" bIns="19050" anchor="ctr" anchorCtr="1"/>
              <a:lstStyle/>
              <a:p>
                <a:pPr>
                  <a:defRPr lang="zh-CN" sz="2400" b="0" i="0" u="none" strike="noStrike" kern="1200" baseline="0">
                    <a:solidFill>
                      <a:schemeClr val="tx1"/>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ext>
            </c:extLst>
          </c:dLbls>
          <c:cat>
            <c:strRef>
              <c:f>Sheet1!$B$1:$F$1</c:f>
              <c:strCache>
                <c:ptCount val="5"/>
                <c:pt idx="0">
                  <c:v>Orange Juice</c:v>
                </c:pt>
                <c:pt idx="1">
                  <c:v>Apple Juice</c:v>
                </c:pt>
                <c:pt idx="2">
                  <c:v>Coca Cola</c:v>
                </c:pt>
                <c:pt idx="3">
                  <c:v>Pepsi</c:v>
                </c:pt>
                <c:pt idx="4">
                  <c:v>Lulu</c:v>
                </c:pt>
              </c:strCache>
            </c:strRef>
          </c:cat>
          <c:val>
            <c:numRef>
              <c:f>Sheet1!$B$3:$F$3</c:f>
              <c:numCache>
                <c:formatCode>General</c:formatCode>
                <c:ptCount val="5"/>
                <c:pt idx="0">
                  <c:v>14</c:v>
                </c:pt>
                <c:pt idx="1">
                  <c:v>16</c:v>
                </c:pt>
                <c:pt idx="2">
                  <c:v>34</c:v>
                </c:pt>
                <c:pt idx="3">
                  <c:v>14</c:v>
                </c:pt>
                <c:pt idx="4">
                  <c:v>22</c:v>
                </c:pt>
              </c:numCache>
            </c:numRef>
          </c:val>
        </c:ser>
        <c:ser>
          <c:idx val="0"/>
          <c:order val="0"/>
          <c:tx>
            <c:strRef>
              <c:f>Sheet1!$A$2</c:f>
              <c:strCache>
                <c:ptCount val="1"/>
                <c:pt idx="0">
                  <c:v>Frequency</c:v>
                </c:pt>
              </c:strCache>
            </c:strRef>
          </c:tx>
          <c:explosion val="0"/>
          <c:dPt>
            <c:idx val="0"/>
            <c:bubble3D val="0"/>
          </c:dPt>
          <c:dPt>
            <c:idx val="1"/>
            <c:bubble3D val="0"/>
          </c:dPt>
          <c:dPt>
            <c:idx val="2"/>
            <c:bubble3D val="0"/>
          </c:dPt>
          <c:dPt>
            <c:idx val="3"/>
            <c:bubble3D val="0"/>
          </c:dPt>
          <c:dPt>
            <c:idx val="4"/>
            <c:bubble3D val="0"/>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ext>
            </c:extLst>
          </c:dLbls>
          <c:cat>
            <c:strRef>
              <c:f>Sheet1!$B$1:$F$1</c:f>
              <c:strCache>
                <c:ptCount val="5"/>
                <c:pt idx="0">
                  <c:v>Orange Juice</c:v>
                </c:pt>
                <c:pt idx="1">
                  <c:v>Apple Juice</c:v>
                </c:pt>
                <c:pt idx="2">
                  <c:v>Coca Cola</c:v>
                </c:pt>
                <c:pt idx="3">
                  <c:v>Pepsi</c:v>
                </c:pt>
                <c:pt idx="4">
                  <c:v>Lulu</c:v>
                </c:pt>
              </c:strCache>
            </c:strRef>
          </c:cat>
          <c:val>
            <c:numRef>
              <c:f>Sheet1!$B$2:$F$2</c:f>
              <c:numCache>
                <c:formatCode>General</c:formatCode>
                <c:ptCount val="5"/>
                <c:pt idx="0">
                  <c:v>7</c:v>
                </c:pt>
                <c:pt idx="1">
                  <c:v>8</c:v>
                </c:pt>
                <c:pt idx="2">
                  <c:v>17</c:v>
                </c:pt>
                <c:pt idx="3">
                  <c:v>7</c:v>
                </c:pt>
                <c:pt idx="4">
                  <c:v>11</c:v>
                </c:pt>
              </c:numCache>
            </c:numRef>
          </c:val>
        </c:ser>
        <c:dLbls>
          <c:showLegendKey val="0"/>
          <c:showVal val="0"/>
          <c:showCatName val="0"/>
          <c:showSerName val="0"/>
          <c:showPercent val="1"/>
          <c:showBubbleSize val="0"/>
          <c:showLeaderLines val="1"/>
        </c:dLbls>
        <c:firstSliceAng val="0"/>
      </c:pieChart>
    </c:plotArea>
    <c:legend>
      <c:legendPos val="r"/>
      <c:layout>
        <c:manualLayout>
          <c:xMode val="edge"/>
          <c:yMode val="edge"/>
          <c:x val="0.722371198521802"/>
          <c:y val="0.380638072177673"/>
          <c:w val="0.26648968828025"/>
          <c:h val="0.427547624084386"/>
        </c:manualLayout>
      </c:layout>
      <c:overlay val="0"/>
      <c:txPr>
        <a:bodyPr rot="0" spcFirstLastPara="0" vertOverflow="ellipsis" vert="horz" wrap="square" anchor="ctr" anchorCtr="1"/>
        <a:lstStyle/>
        <a:p>
          <a:pPr>
            <a:defRPr lang="zh-CN" sz="20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135a359b-0601-4c7b-b258-4f85db181d8e}"/>
      </c:ext>
    </c:extLst>
  </c:chart>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A67A0B-4D9D-9F4F-907C-2461E667FD32}"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701FA-1AB6-9A4D-8615-CF0E883590A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幻灯片图像占位符 1"/>
          <p:cNvSpPr>
            <a:spLocks noGrp="1" noRot="1" noChangeAspect="1" noChangeArrowheads="1" noTextEdit="1"/>
          </p:cNvSpPr>
          <p:nvPr>
            <p:ph type="sldImg"/>
          </p:nvPr>
        </p:nvSpPr>
        <p:spPr/>
      </p:sp>
      <p:sp>
        <p:nvSpPr>
          <p:cNvPr id="20482" name="备注占位符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3" name="灯片编号占位符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AFCC09B-902C-5D4B-9943-A59E94C97E74}" type="slidenum">
              <a:rPr lang="en-US" altLang="zh-CN"/>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幻灯片图像占位符 1"/>
          <p:cNvSpPr>
            <a:spLocks noGrp="1" noRot="1" noChangeAspect="1" noChangeArrowheads="1" noTextEdit="1"/>
          </p:cNvSpPr>
          <p:nvPr>
            <p:ph type="sldImg"/>
          </p:nvPr>
        </p:nvSpPr>
        <p:spPr/>
      </p:sp>
      <p:sp>
        <p:nvSpPr>
          <p:cNvPr id="22530" name="备注占位符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1" name="灯片编号占位符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329873-20D7-7846-A4E1-C88355D92A43}" type="slidenum">
              <a:rPr lang="en-US" altLang="zh-CN"/>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Taxonomy: </a:t>
            </a:r>
            <a:r>
              <a:rPr lang="zh-CN" altLang="en-US" dirty="0"/>
              <a:t>分类学</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15243D5D-A629-4DC7-9CEF-1CBA7F2A945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FC33D1A-CAF0-44CB-9D5B-20CBB0013E7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495E6D07-4FA6-B343-9B42-D41506EE936D}"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85185CD-02F1-C749-A7B3-C7E45AD8D51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495E6D07-4FA6-B343-9B42-D41506EE936D}"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85185CD-02F1-C749-A7B3-C7E45AD8D513}"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495E6D07-4FA6-B343-9B42-D41506EE936D}"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85185CD-02F1-C749-A7B3-C7E45AD8D513}"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495E6D07-4FA6-B343-9B42-D41506EE936D}"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85185CD-02F1-C749-A7B3-C7E45AD8D513}"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495E6D07-4FA6-B343-9B42-D41506EE936D}"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685185CD-02F1-C749-A7B3-C7E45AD8D513}"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495E6D07-4FA6-B343-9B42-D41506EE936D}"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685185CD-02F1-C749-A7B3-C7E45AD8D513}"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95E6D07-4FA6-B343-9B42-D41506EE936D}"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685185CD-02F1-C749-A7B3-C7E45AD8D513}"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495E6D07-4FA6-B343-9B42-D41506EE936D}"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85185CD-02F1-C749-A7B3-C7E45AD8D513}"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495E6D07-4FA6-B343-9B42-D41506EE936D}"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85185CD-02F1-C749-A7B3-C7E45AD8D513}"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495E6D07-4FA6-B343-9B42-D41506EE936D}"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85185CD-02F1-C749-A7B3-C7E45AD8D513}"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495E6D07-4FA6-B343-9B42-D41506EE936D}"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85185CD-02F1-C749-A7B3-C7E45AD8D513}" type="slidenum">
              <a:rPr kumimoji="1" lang="zh-CN" altLang="en-US" smtClean="0"/>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r>
              <a:rPr lang="en-US" altLang="zh-CN"/>
              <a:t>Chapter 1</a:t>
            </a: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r>
              <a:rPr lang="en-US" altLang="zh-CN"/>
              <a:t>Introduction to Time Series Analysis and Forecasting, 2008  MJK</a:t>
            </a: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D4A00E34-6DE9-F44D-BF67-2F4742709B21}"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5E6D07-4FA6-B343-9B42-D41506EE936D}"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5185CD-02F1-C749-A7B3-C7E45AD8D51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hyperlink" Target="http://www.amazon.com/Lies-Damned-Statistics-Second-Edition/dp/1438448384/ref=sr_1_sc_7?ie=UTF8&amp;qid=1405923825&amp;sr=8-7-spell&amp;keywords=statistics+lier" TargetMode="External"/><Relationship Id="rId7" Type="http://schemas.openxmlformats.org/officeDocument/2006/relationships/hyperlink" Target="http://www.amazon.com/Standard-Deviations-Assumptions-Tortured-Statistics/dp/146830920X/ref=sr_1_sc_2?ie=UTF8&amp;qid=1405923825&amp;sr=8-2-spell&amp;keywords=statistics+lier" TargetMode="External"/><Relationship Id="rId6" Type="http://schemas.openxmlformats.org/officeDocument/2006/relationships/hyperlink" Target="http://www.amazon.com/The-Tao-Statistics-Path-Understanding/dp/1412924731/ref=sr_1_1?ie=UTF8&amp;qid=1405923825&amp;sr=8-1&amp;keywords=statistics+lier" TargetMode="External"/><Relationship Id="rId5" Type="http://schemas.openxmlformats.org/officeDocument/2006/relationships/hyperlink" Target="http://www.amazon.com/Damned-Lies-Statistics-Untangling-Politicians/dp/B009N9WH6E/ref=sr_1_sc_3?ie=UTF8&amp;qid=1405923825&amp;sr=8-3-spell&amp;keywords=statistics+lier" TargetMode="External"/><Relationship Id="rId4" Type="http://schemas.openxmlformats.org/officeDocument/2006/relationships/hyperlink" Target="http://www.amazon.com/Naked-Statistics-Stripping-Dread-Data/dp/039334777X/ref=sr_1_1?ie=UTF8&amp;qid=1405923747&amp;sr=8-1&amp;keywords=statistics" TargetMode="External"/><Relationship Id="rId3" Type="http://schemas.openxmlformats.org/officeDocument/2006/relationships/hyperlink" Target="http://www.amazon.com/Big-Data-Revolution-Transform-Think/dp/0544227751/ref=sr_1_1?ie=UTF8&amp;qid=1405922918&amp;sr=8-1&amp;keywords=big+data" TargetMode="External"/><Relationship Id="rId2" Type="http://schemas.openxmlformats.org/officeDocument/2006/relationships/hyperlink" Target="http://www.amazon.com/Kenneth-Cukier/e/B00C47ZFSY/ref=sr_ntt_srch_lnk_1?qid=1405922918&amp;sr=8-1" TargetMode="External"/><Relationship Id="rId1" Type="http://schemas.openxmlformats.org/officeDocument/2006/relationships/hyperlink" Target="http://www.amazon.com/Viktor-Mayer-Sch%C3%B6nberger/e/B002O3TXHW/ref=sr_ntt_srch_lnk_1?qid=1405922918&amp;sr=8-1" TargetMode="Externa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hyperlink" Target="https://www.bilibili.com/video/BV1TJ411y7Mp?from=search&amp;seid=190446610727304913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hart" Target="../charts/char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image" Target="../media/image12.jpeg"/><Relationship Id="rId6" Type="http://schemas.openxmlformats.org/officeDocument/2006/relationships/tags" Target="../tags/tag4.xml"/><Relationship Id="rId5" Type="http://schemas.openxmlformats.org/officeDocument/2006/relationships/image" Target="../media/image11.jpeg"/><Relationship Id="rId4" Type="http://schemas.openxmlformats.org/officeDocument/2006/relationships/tags" Target="../tags/tag3.xml"/><Relationship Id="rId3" Type="http://schemas.openxmlformats.org/officeDocument/2006/relationships/image" Target="../media/image10.jpeg"/><Relationship Id="rId2" Type="http://schemas.openxmlformats.org/officeDocument/2006/relationships/tags" Target="../tags/tag2.xml"/><Relationship Id="rId16" Type="http://schemas.openxmlformats.org/officeDocument/2006/relationships/notesSlide" Target="../notesSlides/notesSlide3.xml"/><Relationship Id="rId15" Type="http://schemas.openxmlformats.org/officeDocument/2006/relationships/slideLayout" Target="../slideLayouts/slideLayout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tags" Target="../tags/tag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jpeg"/><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965430" y="629268"/>
            <a:ext cx="6586491" cy="1286160"/>
          </a:xfrm>
        </p:spPr>
        <p:txBody>
          <a:bodyPr anchor="b">
            <a:normAutofit/>
          </a:bodyPr>
          <a:lstStyle/>
          <a:p>
            <a:pPr eaLnBrk="1" hangingPunct="1"/>
            <a:r>
              <a:rPr lang="en-US" altLang="zh-CN" b="1" dirty="0">
                <a:ea typeface="宋体" panose="02010600030101010101" pitchFamily="2" charset="-122"/>
              </a:rPr>
              <a:t>Probability and Statistics</a:t>
            </a:r>
            <a:endParaRPr lang="en-US" altLang="zh-CN" b="1" dirty="0">
              <a:ea typeface="宋体" panose="02010600030101010101" pitchFamily="2" charset="-122"/>
            </a:endParaRPr>
          </a:p>
        </p:txBody>
      </p:sp>
      <p:sp>
        <p:nvSpPr>
          <p:cNvPr id="15363" name="Rectangle 3"/>
          <p:cNvSpPr>
            <a:spLocks noGrp="1" noChangeArrowheads="1"/>
          </p:cNvSpPr>
          <p:nvPr>
            <p:ph idx="1"/>
          </p:nvPr>
        </p:nvSpPr>
        <p:spPr>
          <a:xfrm>
            <a:off x="4965700" y="2873375"/>
            <a:ext cx="6424930" cy="3482340"/>
          </a:xfrm>
        </p:spPr>
        <p:txBody>
          <a:bodyPr>
            <a:normAutofit fontScale="90000" lnSpcReduction="10000"/>
          </a:bodyPr>
          <a:lstStyle/>
          <a:p>
            <a:pPr marL="0" indent="0">
              <a:buNone/>
            </a:pPr>
            <a:r>
              <a:rPr lang="en-US" altLang="zh-CN" sz="2000" dirty="0">
                <a:ea typeface="宋体" panose="02010600030101010101" pitchFamily="2" charset="-122"/>
              </a:rPr>
              <a:t>                     Lectured by Fan </a:t>
            </a:r>
            <a:r>
              <a:rPr lang="en-US" altLang="zh-CN" sz="2000" dirty="0" err="1">
                <a:ea typeface="宋体" panose="02010600030101010101" pitchFamily="2" charset="-122"/>
              </a:rPr>
              <a:t>Youhua</a:t>
            </a:r>
            <a:endParaRPr lang="en-US" altLang="zh-CN" sz="2000" dirty="0">
              <a:ea typeface="宋体" panose="02010600030101010101" pitchFamily="2" charset="-122"/>
            </a:endParaRPr>
          </a:p>
          <a:p>
            <a:pPr marL="0" indent="0">
              <a:buNone/>
            </a:pPr>
            <a:r>
              <a:rPr lang="en-US" altLang="zh-CN" sz="2000" dirty="0">
                <a:ea typeface="宋体" panose="02010600030101010101" pitchFamily="2" charset="-122"/>
              </a:rPr>
              <a:t>                             </a:t>
            </a:r>
            <a:r>
              <a:rPr lang="en-US" altLang="zh-CN" sz="2000" dirty="0">
                <a:ea typeface="宋体" panose="02010600030101010101" pitchFamily="2" charset="-122"/>
              </a:rPr>
              <a:t>yhfan@hit.edu.cn</a:t>
            </a:r>
            <a:endParaRPr lang="en-US" altLang="zh-CN" sz="2000" dirty="0">
              <a:ea typeface="宋体" panose="02010600030101010101" pitchFamily="2" charset="-122"/>
            </a:endParaRPr>
          </a:p>
          <a:p>
            <a:pPr marL="0" indent="0" algn="ctr">
              <a:buNone/>
            </a:pPr>
            <a:r>
              <a:rPr lang="en-US" altLang="zh-CN" sz="2000" dirty="0">
                <a:ea typeface="宋体" panose="02010600030101010101" pitchFamily="2" charset="-122"/>
              </a:rPr>
              <a:t>18665887603</a:t>
            </a:r>
            <a:endParaRPr lang="en-US" altLang="zh-CN" sz="2000" dirty="0">
              <a:ea typeface="宋体" panose="02010600030101010101" pitchFamily="2" charset="-122"/>
            </a:endParaRPr>
          </a:p>
          <a:p>
            <a:pPr marL="0" indent="0" algn="ctr">
              <a:buNone/>
            </a:pPr>
            <a:endParaRPr lang="en-US" altLang="zh-CN" sz="2000" dirty="0">
              <a:ea typeface="宋体" panose="02010600030101010101" pitchFamily="2" charset="-122"/>
            </a:endParaRPr>
          </a:p>
          <a:p>
            <a:pPr marL="0" indent="0" algn="ctr">
              <a:buNone/>
            </a:pPr>
            <a:r>
              <a:rPr lang="en-US" altLang="zh-CN" sz="2000" dirty="0">
                <a:ea typeface="宋体" panose="02010600030101010101" pitchFamily="2" charset="-122"/>
              </a:rPr>
              <a:t> Course QQ group: 1092769407</a:t>
            </a:r>
            <a:endParaRPr lang="en-US" altLang="zh-CN" sz="2000" dirty="0">
              <a:ea typeface="宋体" panose="02010600030101010101" pitchFamily="2" charset="-122"/>
            </a:endParaRPr>
          </a:p>
          <a:p>
            <a:pPr marL="0" indent="0" algn="ctr">
              <a:buNone/>
            </a:pPr>
            <a:r>
              <a:rPr lang="zh-CN" altLang="en-US" sz="2000" dirty="0">
                <a:ea typeface="宋体" panose="02010600030101010101" pitchFamily="2" charset="-122"/>
              </a:rPr>
              <a:t>（</a:t>
            </a:r>
            <a:r>
              <a:rPr lang="en-US" altLang="zh-CN" sz="2000" dirty="0">
                <a:ea typeface="宋体" panose="02010600030101010101" pitchFamily="2" charset="-122"/>
              </a:rPr>
              <a:t>Computer Science and Technology 1</a:t>
            </a:r>
            <a:r>
              <a:rPr lang="zh-CN" altLang="en-US" sz="2000" dirty="0">
                <a:ea typeface="宋体" panose="02010600030101010101" pitchFamily="2" charset="-122"/>
              </a:rPr>
              <a:t>，</a:t>
            </a:r>
            <a:r>
              <a:rPr lang="en-US" altLang="zh-CN" sz="2000" dirty="0">
                <a:ea typeface="宋体" panose="02010600030101010101" pitchFamily="2" charset="-122"/>
              </a:rPr>
              <a:t>Mechanical Design, Manufacturing and Automation 67</a:t>
            </a:r>
            <a:r>
              <a:rPr lang="zh-CN" altLang="en-US" sz="2000" dirty="0">
                <a:ea typeface="宋体" panose="02010600030101010101" pitchFamily="2" charset="-122"/>
              </a:rPr>
              <a:t>，</a:t>
            </a:r>
            <a:r>
              <a:rPr lang="en-US" altLang="zh-CN" sz="2000" dirty="0">
                <a:ea typeface="宋体" panose="02010600030101010101" pitchFamily="2" charset="-122"/>
              </a:rPr>
              <a:t>Robotics Engineering 51</a:t>
            </a:r>
            <a:r>
              <a:rPr lang="zh-CN" altLang="en-US" sz="2000" dirty="0">
                <a:ea typeface="宋体" panose="02010600030101010101" pitchFamily="2" charset="-122"/>
              </a:rPr>
              <a:t>）</a:t>
            </a:r>
            <a:endParaRPr lang="zh-CN" altLang="en-US" sz="2000" dirty="0">
              <a:ea typeface="宋体" panose="02010600030101010101" pitchFamily="2" charset="-122"/>
            </a:endParaRPr>
          </a:p>
          <a:p>
            <a:pPr marL="0" indent="0" algn="ctr">
              <a:buNone/>
            </a:pPr>
            <a:r>
              <a:rPr lang="en-US" altLang="zh-CN" sz="2000" dirty="0">
                <a:ea typeface="宋体" panose="02010600030101010101" pitchFamily="2" charset="-122"/>
              </a:rPr>
              <a:t>TA: Peng Zhuohuang                              </a:t>
            </a:r>
            <a:endParaRPr lang="en-US" altLang="zh-CN" sz="2000" dirty="0">
              <a:ea typeface="宋体" panose="02010600030101010101" pitchFamily="2" charset="-122"/>
            </a:endParaRPr>
          </a:p>
          <a:p>
            <a:pPr marL="0" indent="0">
              <a:buNone/>
            </a:pPr>
            <a:endParaRPr lang="en-US" altLang="zh-CN" sz="2000" dirty="0">
              <a:ea typeface="宋体" panose="02010600030101010101" pitchFamily="2" charset="-122"/>
            </a:endParaRPr>
          </a:p>
          <a:p>
            <a:pPr marL="0" indent="0" algn="ctr">
              <a:buNone/>
            </a:pPr>
            <a:r>
              <a:rPr lang="en-US" altLang="zh-CN" sz="2000" dirty="0">
                <a:ea typeface="宋体" panose="02010600030101010101" pitchFamily="2" charset="-122"/>
              </a:rPr>
              <a:t>  Autumn, 2026             </a:t>
            </a:r>
            <a:endParaRPr lang="en-US" altLang="zh-CN" sz="2000" dirty="0">
              <a:ea typeface="宋体" panose="02010600030101010101" pitchFamily="2" charset="-122"/>
            </a:endParaRPr>
          </a:p>
        </p:txBody>
      </p:sp>
      <p:pic>
        <p:nvPicPr>
          <p:cNvPr id="15365" name="Picture 15364"/>
          <p:cNvPicPr>
            <a:picLocks noChangeAspect="1"/>
          </p:cNvPicPr>
          <p:nvPr/>
        </p:nvPicPr>
        <p:blipFill rotWithShape="1">
          <a:blip r:embed="rId1"/>
          <a:srcRect l="20054" r="34826" b="-1"/>
          <a:stretch>
            <a:fillRect/>
          </a:stretch>
        </p:blipFill>
        <p:spPr>
          <a:xfrm>
            <a:off x="20" y="10"/>
            <a:ext cx="4635571" cy="6857990"/>
          </a:xfrm>
          <a:prstGeom prst="rect">
            <a:avLst/>
          </a:prstGeom>
          <a:effectLst/>
        </p:spPr>
      </p:pic>
      <p:cxnSp>
        <p:nvCxnSpPr>
          <p:cNvPr id="73" name="Straight Connector 72"/>
          <p:cNvCxnSpPr>
            <a:cxnSpLocks noGrp="1" noRot="1" noChangeAspect="1" noMove="1" noResize="1" noEditPoints="1" noAdjustHandles="1" noChangeArrowheads="1" noChangeShapeType="1"/>
          </p:cNvCxnSpPr>
          <p:nvPr/>
        </p:nvCxnSpPr>
        <p:spPr>
          <a:xfrm>
            <a:off x="5080934" y="2115117"/>
            <a:ext cx="6309360" cy="0"/>
          </a:xfrm>
          <a:prstGeom prst="line">
            <a:avLst/>
          </a:prstGeom>
          <a:ln w="19050">
            <a:solidFill>
              <a:srgbClr val="66819C"/>
            </a:solidFill>
          </a:ln>
        </p:spPr>
        <p:style>
          <a:lnRef idx="1">
            <a:schemeClr val="accent1"/>
          </a:lnRef>
          <a:fillRef idx="0">
            <a:schemeClr val="accent1"/>
          </a:fillRef>
          <a:effectRef idx="0">
            <a:schemeClr val="accent1"/>
          </a:effectRef>
          <a:fontRef idx="minor">
            <a:schemeClr val="tx1"/>
          </a:fontRef>
        </p:style>
      </p:cxnSp>
      <p:sp>
        <p:nvSpPr>
          <p:cNvPr id="15361" name="灯片编号占位符 5"/>
          <p:cNvSpPr>
            <a:spLocks noGrp="1"/>
          </p:cNvSpPr>
          <p:nvPr>
            <p:ph type="sldNum" sz="quarter" idx="12"/>
          </p:nvPr>
        </p:nvSpPr>
        <p:spPr>
          <a:xfrm>
            <a:off x="10167042" y="6356350"/>
            <a:ext cx="1186758" cy="36512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rm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ts val="600"/>
              </a:spcAft>
              <a:buFontTx/>
              <a:buNone/>
            </a:pPr>
            <a:fld id="{0DCD6F54-463C-0241-B9DA-6B2FF565467D}" type="slidenum">
              <a:rPr lang="en-US" altLang="zh-CN" sz="1800"/>
            </a:fld>
            <a:endParaRPr lang="en-US" altLang="zh-CN" sz="1800"/>
          </a:p>
        </p:txBody>
      </p:sp>
      <p:pic>
        <p:nvPicPr>
          <p:cNvPr id="2" name="图片 1"/>
          <p:cNvPicPr>
            <a:picLocks noChangeAspect="1"/>
          </p:cNvPicPr>
          <p:nvPr/>
        </p:nvPicPr>
        <p:blipFill>
          <a:blip r:embed="rId2"/>
          <a:stretch>
            <a:fillRect/>
          </a:stretch>
        </p:blipFill>
        <p:spPr>
          <a:xfrm>
            <a:off x="52070" y="995045"/>
            <a:ext cx="4583430" cy="57264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568" y="548640"/>
            <a:ext cx="10168128" cy="1179576"/>
          </a:xfrm>
        </p:spPr>
        <p:txBody>
          <a:bodyPr>
            <a:normAutofit/>
          </a:bodyPr>
          <a:lstStyle/>
          <a:p>
            <a:r>
              <a:rPr kumimoji="1" lang="en-US" altLang="zh-CN" sz="4000" dirty="0"/>
              <a:t>Course Description</a:t>
            </a:r>
            <a:endParaRPr kumimoji="1" lang="zh-CN" altLang="en-US" sz="4000" dirty="0"/>
          </a:p>
        </p:txBody>
      </p:sp>
      <p:sp>
        <p:nvSpPr>
          <p:cNvPr id="3" name="内容占位符 2"/>
          <p:cNvSpPr>
            <a:spLocks noGrp="1"/>
          </p:cNvSpPr>
          <p:nvPr>
            <p:ph idx="1"/>
          </p:nvPr>
        </p:nvSpPr>
        <p:spPr>
          <a:xfrm>
            <a:off x="1115568" y="2481943"/>
            <a:ext cx="10168128" cy="3695020"/>
          </a:xfrm>
        </p:spPr>
        <p:txBody>
          <a:bodyPr>
            <a:normAutofit/>
          </a:bodyPr>
          <a:lstStyle/>
          <a:p>
            <a:pPr algn="just">
              <a:lnSpc>
                <a:spcPct val="150000"/>
              </a:lnSpc>
            </a:pPr>
            <a:r>
              <a:rPr lang="en-US" altLang="zh-CN" sz="2400" dirty="0"/>
              <a:t>This course is designed to provide undergraduate students with a comprehensive understanding of statistical concepts and their applications. This course aims to develop students' quantitative reasoning skills and equip them with the tools necessary to analyze and interpret data for decision-making.</a:t>
            </a:r>
            <a:endParaRPr lang="zh-CN" altLang="zh-CN" sz="2400" dirty="0"/>
          </a:p>
        </p:txBody>
      </p:sp>
      <p:sp>
        <p:nvSpPr>
          <p:cNvPr id="6" name="灯片编号占位符 5"/>
          <p:cNvSpPr>
            <a:spLocks noGrp="1"/>
          </p:cNvSpPr>
          <p:nvPr>
            <p:ph type="sldNum" sz="quarter" idx="12"/>
          </p:nvPr>
        </p:nvSpPr>
        <p:spPr>
          <a:xfrm>
            <a:off x="8540496" y="6356350"/>
            <a:ext cx="2743200" cy="365125"/>
          </a:xfrm>
        </p:spPr>
        <p:txBody>
          <a:bodyPr>
            <a:normAutofit/>
          </a:bodyPr>
          <a:lstStyle/>
          <a:p>
            <a:pPr>
              <a:spcAft>
                <a:spcPts val="600"/>
              </a:spcAft>
              <a:defRPr/>
            </a:pPr>
            <a:fld id="{C5F11FF2-3967-9849-8468-3FCAA5814600}" type="slidenum">
              <a:rPr lang="en-US" altLang="zh-CN">
                <a:solidFill>
                  <a:schemeClr val="tx1">
                    <a:lumMod val="50000"/>
                    <a:lumOff val="50000"/>
                  </a:schemeClr>
                </a:solidFill>
              </a:rPr>
            </a:fld>
            <a:endParaRPr lang="en-US" altLang="zh-CN">
              <a:solidFill>
                <a:schemeClr val="tx1">
                  <a:lumMod val="50000"/>
                  <a:lumOff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p:cNvSpPr>
            <a:spLocks noGrp="1" noRot="1" noChangeAspect="1" noMove="1" noResize="1" noEditPoints="1" noAdjustHandles="1" noChangeArrowheads="1" noChangeShapeType="1" noTextEdit="1"/>
          </p:cNvSpPr>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p:cNvSpPr>
            <a:spLocks noGrp="1" noRot="1" noChangeAspect="1" noMove="1" noResize="1" noEditPoints="1" noAdjustHandles="1" noChangeArrowheads="1" noChangeShapeType="1" noTextEdit="1"/>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1115568" y="548640"/>
            <a:ext cx="10168128" cy="1179576"/>
          </a:xfrm>
        </p:spPr>
        <p:txBody>
          <a:bodyPr>
            <a:normAutofit/>
          </a:bodyPr>
          <a:lstStyle/>
          <a:p>
            <a:r>
              <a:rPr kumimoji="1" lang="en-US" altLang="zh-CN" sz="4000"/>
              <a:t>Course Objectives</a:t>
            </a:r>
            <a:endParaRPr kumimoji="1" lang="zh-CN" altLang="en-US" sz="4000"/>
          </a:p>
        </p:txBody>
      </p:sp>
      <p:sp>
        <p:nvSpPr>
          <p:cNvPr id="17" name="Rectangle 16"/>
          <p:cNvSpPr>
            <a:spLocks noGrp="1" noRot="1" noChangeAspect="1" noMove="1" noResize="1" noEditPoints="1" noAdjustHandles="1" noChangeArrowheads="1" noChangeShapeType="1" noTextEdit="1"/>
          </p:cNvSpPr>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内容占位符 2"/>
          <p:cNvSpPr>
            <a:spLocks noGrp="1"/>
          </p:cNvSpPr>
          <p:nvPr>
            <p:ph idx="1"/>
          </p:nvPr>
        </p:nvSpPr>
        <p:spPr>
          <a:xfrm>
            <a:off x="1115568" y="2149174"/>
            <a:ext cx="10168128" cy="4160186"/>
          </a:xfrm>
        </p:spPr>
        <p:txBody>
          <a:bodyPr>
            <a:normAutofit/>
          </a:bodyPr>
          <a:lstStyle/>
          <a:p>
            <a:pPr algn="just"/>
            <a:r>
              <a:rPr lang="en-US" altLang="zh-CN" sz="2000" dirty="0"/>
              <a:t> Understand the fundamental concepts of descriptive and inferential statistics.</a:t>
            </a:r>
            <a:endParaRPr lang="zh-CN" altLang="zh-CN" sz="2000" dirty="0"/>
          </a:p>
          <a:p>
            <a:pPr algn="just"/>
            <a:r>
              <a:rPr lang="en-US" altLang="zh-CN" sz="2000" dirty="0"/>
              <a:t> Learn various techniques for data collection, organization, and presentation.</a:t>
            </a:r>
            <a:endParaRPr lang="zh-CN" altLang="zh-CN" sz="2000" dirty="0"/>
          </a:p>
          <a:p>
            <a:pPr algn="just"/>
            <a:r>
              <a:rPr lang="en-US" altLang="zh-CN" sz="2000" dirty="0"/>
              <a:t> Develop the ability to analyze and interpret data using appropriate statistical methods.</a:t>
            </a:r>
            <a:endParaRPr lang="zh-CN" altLang="zh-CN" sz="2000" dirty="0"/>
          </a:p>
          <a:p>
            <a:pPr algn="just"/>
            <a:r>
              <a:rPr lang="en-US" altLang="zh-CN" sz="2000" dirty="0"/>
              <a:t> Apply statistical tools to solve real-world problems.</a:t>
            </a:r>
            <a:endParaRPr lang="zh-CN" altLang="zh-CN" sz="2000" dirty="0"/>
          </a:p>
          <a:p>
            <a:pPr algn="just"/>
            <a:r>
              <a:rPr lang="en-US" altLang="zh-CN" sz="2000" dirty="0"/>
              <a:t> Enhance critical thinking skills by evaluating the validity and reliability of statistical results.</a:t>
            </a:r>
            <a:endParaRPr lang="zh-CN" altLang="zh-CN" sz="2000" dirty="0"/>
          </a:p>
          <a:p>
            <a:pPr algn="just"/>
            <a:endParaRPr kumimoji="1" lang="en-US" altLang="zh-CN" sz="2000" dirty="0"/>
          </a:p>
          <a:p>
            <a:pPr algn="just"/>
            <a:r>
              <a:rPr kumimoji="1" lang="en-US" altLang="zh-CN" sz="2000" dirty="0"/>
              <a:t>Basic probability and statistical concepts and methods.</a:t>
            </a:r>
            <a:endParaRPr kumimoji="1" lang="en-US" altLang="zh-CN" sz="2000" dirty="0"/>
          </a:p>
          <a:p>
            <a:pPr algn="just"/>
            <a:r>
              <a:rPr kumimoji="1" lang="en-US" altLang="zh-CN" sz="2000" dirty="0"/>
              <a:t>Emphases on what, how, when and why certain statistical methods can and cannot be applied.</a:t>
            </a:r>
            <a:endParaRPr kumimoji="1" lang="en-US" altLang="zh-CN" sz="2000" dirty="0"/>
          </a:p>
          <a:p>
            <a:pPr algn="just"/>
            <a:r>
              <a:rPr kumimoji="1" lang="en-US" altLang="zh-CN" sz="2000" dirty="0"/>
              <a:t>Solving simple real-life problems by statistics.</a:t>
            </a:r>
            <a:endParaRPr kumimoji="1" lang="en-US" altLang="zh-CN" sz="2000" dirty="0"/>
          </a:p>
        </p:txBody>
      </p:sp>
      <p:sp>
        <p:nvSpPr>
          <p:cNvPr id="6" name="灯片编号占位符 5"/>
          <p:cNvSpPr>
            <a:spLocks noGrp="1"/>
          </p:cNvSpPr>
          <p:nvPr>
            <p:ph type="sldNum" sz="quarter" idx="12"/>
          </p:nvPr>
        </p:nvSpPr>
        <p:spPr>
          <a:xfrm>
            <a:off x="8540496" y="6356350"/>
            <a:ext cx="2743200" cy="365125"/>
          </a:xfrm>
        </p:spPr>
        <p:txBody>
          <a:bodyPr>
            <a:normAutofit/>
          </a:bodyPr>
          <a:lstStyle/>
          <a:p>
            <a:pPr>
              <a:spcAft>
                <a:spcPts val="600"/>
              </a:spcAft>
              <a:defRPr/>
            </a:pPr>
            <a:fld id="{8F6485E2-2412-884E-8DFA-10363A2ABF72}" type="slidenum">
              <a:rPr lang="en-US" altLang="zh-CN">
                <a:solidFill>
                  <a:schemeClr val="tx1">
                    <a:lumMod val="50000"/>
                    <a:lumOff val="50000"/>
                  </a:schemeClr>
                </a:solidFill>
              </a:rPr>
            </a:fld>
            <a:endParaRPr lang="en-US" altLang="zh-CN">
              <a:solidFill>
                <a:schemeClr val="tx1">
                  <a:lumMod val="50000"/>
                  <a:lumOff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p:cNvSpPr>
            <a:spLocks noGrp="1" noRot="1" noChangeAspect="1" noMove="1" noResize="1" noEditPoints="1" noAdjustHandles="1" noChangeArrowheads="1" noChangeShapeType="1" noTextEdit="1"/>
          </p:cNvSpPr>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p:cNvSpPr>
            <a:spLocks noGrp="1" noRot="1" noChangeAspect="1" noMove="1" noResize="1" noEditPoints="1" noAdjustHandles="1" noChangeArrowheads="1" noChangeShapeType="1" noTextEdit="1"/>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1115568" y="548640"/>
            <a:ext cx="10168128" cy="1179576"/>
          </a:xfrm>
        </p:spPr>
        <p:txBody>
          <a:bodyPr>
            <a:normAutofit/>
          </a:bodyPr>
          <a:lstStyle/>
          <a:p>
            <a:r>
              <a:rPr kumimoji="1" lang="en-US" altLang="zh-CN" sz="4000" dirty="0"/>
              <a:t>Course Topics</a:t>
            </a:r>
            <a:endParaRPr kumimoji="1" lang="zh-CN" altLang="en-US" sz="4000" dirty="0"/>
          </a:p>
        </p:txBody>
      </p:sp>
      <p:sp>
        <p:nvSpPr>
          <p:cNvPr id="17" name="Rectangle 16"/>
          <p:cNvSpPr>
            <a:spLocks noGrp="1" noRot="1" noChangeAspect="1" noMove="1" noResize="1" noEditPoints="1" noAdjustHandles="1" noChangeArrowheads="1" noChangeShapeType="1" noTextEdit="1"/>
          </p:cNvSpPr>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内容占位符 2"/>
          <p:cNvSpPr>
            <a:spLocks noGrp="1"/>
          </p:cNvSpPr>
          <p:nvPr>
            <p:ph idx="1"/>
          </p:nvPr>
        </p:nvSpPr>
        <p:spPr>
          <a:xfrm>
            <a:off x="1057868" y="2336423"/>
            <a:ext cx="10168128" cy="4025648"/>
          </a:xfrm>
        </p:spPr>
        <p:txBody>
          <a:bodyPr>
            <a:normAutofit lnSpcReduction="10000"/>
          </a:bodyPr>
          <a:lstStyle/>
          <a:p>
            <a:pPr marL="514350" indent="-514350" algn="just">
              <a:lnSpc>
                <a:spcPct val="100000"/>
              </a:lnSpc>
              <a:buFont typeface="+mj-lt"/>
              <a:buAutoNum type="arabicPeriod"/>
            </a:pPr>
            <a:r>
              <a:rPr lang="en-US" altLang="zh-CN" sz="2000" dirty="0"/>
              <a:t>Introduction to Statistics: Importance and role in decision-making, ethical considerations.</a:t>
            </a:r>
            <a:endParaRPr lang="en-US" altLang="zh-CN" sz="2000" dirty="0"/>
          </a:p>
          <a:p>
            <a:pPr marL="514350" indent="-514350" algn="just">
              <a:lnSpc>
                <a:spcPct val="100000"/>
              </a:lnSpc>
              <a:buFont typeface="+mj-lt"/>
              <a:buAutoNum type="arabicPeriod"/>
            </a:pPr>
            <a:r>
              <a:rPr lang="en-US" altLang="zh-CN" sz="2000" dirty="0"/>
              <a:t>Descriptive Statistics: Measures of central tendency, variability, and graphical representation of data.</a:t>
            </a:r>
            <a:endParaRPr lang="en-US" altLang="zh-CN" sz="2000" dirty="0"/>
          </a:p>
          <a:p>
            <a:pPr marL="514350" indent="-514350" algn="just">
              <a:lnSpc>
                <a:spcPct val="100000"/>
              </a:lnSpc>
              <a:buFont typeface="+mj-lt"/>
              <a:buAutoNum type="arabicPeriod"/>
            </a:pPr>
            <a:r>
              <a:rPr lang="en-US" altLang="zh-CN" sz="2000" dirty="0"/>
              <a:t>Probability: Basic concepts, probability distributions, and their applications.</a:t>
            </a:r>
            <a:endParaRPr lang="en-US" altLang="zh-CN" sz="2000" dirty="0"/>
          </a:p>
          <a:p>
            <a:pPr marL="514350" indent="-514350" algn="just">
              <a:lnSpc>
                <a:spcPct val="100000"/>
              </a:lnSpc>
              <a:buFont typeface="+mj-lt"/>
              <a:buAutoNum type="arabicPeriod"/>
            </a:pPr>
            <a:r>
              <a:rPr lang="en-US" altLang="zh-CN" sz="2000" dirty="0"/>
              <a:t>Sampling and Estimation: Sampling techniques, confidence intervals, and sample size determination.</a:t>
            </a:r>
            <a:endParaRPr lang="en-US" altLang="zh-CN" sz="2000" dirty="0"/>
          </a:p>
          <a:p>
            <a:pPr marL="514350" indent="-514350" algn="just">
              <a:lnSpc>
                <a:spcPct val="100000"/>
              </a:lnSpc>
              <a:buFont typeface="+mj-lt"/>
              <a:buAutoNum type="arabicPeriod"/>
            </a:pPr>
            <a:r>
              <a:rPr lang="en-US" altLang="zh-CN" sz="2000" dirty="0"/>
              <a:t>Correlation and Regression Analysis: Relationship between variables, linear regression, and interpretation of regression models.</a:t>
            </a:r>
            <a:endParaRPr lang="zh-CN" altLang="zh-CN" sz="2000" dirty="0"/>
          </a:p>
          <a:p>
            <a:pPr marL="0" indent="0">
              <a:buNone/>
            </a:pPr>
            <a:endParaRPr kumimoji="1" lang="zh-CN" altLang="en-US" sz="2200" dirty="0"/>
          </a:p>
        </p:txBody>
      </p:sp>
      <p:sp>
        <p:nvSpPr>
          <p:cNvPr id="6" name="灯片编号占位符 5"/>
          <p:cNvSpPr>
            <a:spLocks noGrp="1"/>
          </p:cNvSpPr>
          <p:nvPr>
            <p:ph type="sldNum" sz="quarter" idx="12"/>
          </p:nvPr>
        </p:nvSpPr>
        <p:spPr>
          <a:xfrm>
            <a:off x="8540496" y="6356350"/>
            <a:ext cx="2743200" cy="365125"/>
          </a:xfrm>
        </p:spPr>
        <p:txBody>
          <a:bodyPr>
            <a:normAutofit/>
          </a:bodyPr>
          <a:lstStyle/>
          <a:p>
            <a:pPr>
              <a:spcAft>
                <a:spcPts val="600"/>
              </a:spcAft>
              <a:defRPr/>
            </a:pPr>
            <a:fld id="{8F6485E2-2412-884E-8DFA-10363A2ABF72}" type="slidenum">
              <a:rPr lang="en-US" altLang="zh-CN">
                <a:solidFill>
                  <a:schemeClr val="tx1">
                    <a:lumMod val="50000"/>
                    <a:lumOff val="50000"/>
                  </a:schemeClr>
                </a:solidFill>
              </a:rPr>
            </a:fld>
            <a:endParaRPr lang="en-US" altLang="zh-CN">
              <a:solidFill>
                <a:schemeClr val="tx1">
                  <a:lumMod val="50000"/>
                  <a:lumOff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p:cNvSpPr>
            <a:spLocks noGrp="1"/>
          </p:cNvSpPr>
          <p:nvPr>
            <p:ph type="title"/>
          </p:nvPr>
        </p:nvSpPr>
        <p:spPr>
          <a:xfrm>
            <a:off x="841248" y="256032"/>
            <a:ext cx="10506456" cy="1014984"/>
          </a:xfrm>
        </p:spPr>
        <p:txBody>
          <a:bodyPr anchor="b">
            <a:normAutofit/>
          </a:bodyPr>
          <a:lstStyle/>
          <a:p>
            <a:r>
              <a:rPr kumimoji="1" lang="en-US" altLang="zh-CN" dirty="0"/>
              <a:t>Assessment</a:t>
            </a:r>
            <a:endParaRPr kumimoji="1" lang="zh-CN" altLang="en-US" dirty="0"/>
          </a:p>
        </p:txBody>
      </p:sp>
      <p:sp>
        <p:nvSpPr>
          <p:cNvPr id="14" name="Rectangle 13"/>
          <p:cNvSpPr>
            <a:spLocks noGrp="1" noRot="1" noChangeAspect="1" noMove="1" noResize="1" noEditPoints="1" noAdjustHandles="1" noChangeArrowheads="1" noChangeShapeType="1" noTextEdit="1"/>
          </p:cNvSpPr>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p:cNvSpPr>
            <a:spLocks noGrp="1" noRot="1" noChangeAspect="1" noMove="1" noResize="1" noEditPoints="1" noAdjustHandles="1" noChangeArrowheads="1" noChangeShapeType="1" noTextEdit="1"/>
          </p:cNvSpPr>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灯片编号占位符 5"/>
          <p:cNvSpPr>
            <a:spLocks noGrp="1"/>
          </p:cNvSpPr>
          <p:nvPr>
            <p:ph type="sldNum" sz="quarter" idx="12"/>
          </p:nvPr>
        </p:nvSpPr>
        <p:spPr>
          <a:xfrm>
            <a:off x="8873254" y="6356350"/>
            <a:ext cx="2477498" cy="365125"/>
          </a:xfrm>
        </p:spPr>
        <p:txBody>
          <a:bodyPr>
            <a:normAutofit/>
          </a:bodyPr>
          <a:lstStyle/>
          <a:p>
            <a:pPr>
              <a:spcAft>
                <a:spcPts val="600"/>
              </a:spcAft>
              <a:defRPr/>
            </a:pPr>
            <a:fld id="{8F6485E2-2412-884E-8DFA-10363A2ABF72}" type="slidenum">
              <a:rPr lang="en-US" altLang="zh-CN">
                <a:solidFill>
                  <a:schemeClr val="tx1">
                    <a:lumMod val="50000"/>
                    <a:lumOff val="50000"/>
                  </a:schemeClr>
                </a:solidFill>
              </a:rPr>
            </a:fld>
            <a:endParaRPr lang="en-US" altLang="zh-CN">
              <a:solidFill>
                <a:schemeClr val="tx1">
                  <a:lumMod val="50000"/>
                  <a:lumOff val="50000"/>
                </a:schemeClr>
              </a:solidFill>
            </a:endParaRPr>
          </a:p>
        </p:txBody>
      </p:sp>
      <p:sp>
        <p:nvSpPr>
          <p:cNvPr id="3" name="内容占位符 2"/>
          <p:cNvSpPr/>
          <p:nvPr>
            <p:ph idx="1"/>
          </p:nvPr>
        </p:nvSpPr>
        <p:spPr/>
        <p:txBody>
          <a:bodyPr/>
          <a:p>
            <a:r>
              <a:rPr kumimoji="1" lang="en-US" altLang="zh-CN" dirty="0">
                <a:sym typeface="+mn-ea"/>
              </a:rPr>
              <a:t>Homeworks (10%)</a:t>
            </a:r>
            <a:r>
              <a:rPr kumimoji="1" lang="zh-CN" altLang="en-US" dirty="0">
                <a:sym typeface="+mn-ea"/>
              </a:rPr>
              <a:t>（</a:t>
            </a:r>
            <a:r>
              <a:rPr kumimoji="1" lang="en-US" altLang="zh-CN" dirty="0">
                <a:sym typeface="+mn-ea"/>
              </a:rPr>
              <a:t> more </a:t>
            </a:r>
            <a:r>
              <a:rPr kumimoji="1" lang="en-US" altLang="zh-CN" dirty="0">
                <a:sym typeface="+mn-ea"/>
              </a:rPr>
              <a:t>then 2 times</a:t>
            </a:r>
            <a:r>
              <a:rPr kumimoji="1" lang="zh-CN" altLang="en-US" dirty="0">
                <a:sym typeface="+mn-ea"/>
              </a:rPr>
              <a:t>）</a:t>
            </a:r>
            <a:endParaRPr kumimoji="1" lang="en-US" altLang="zh-CN" dirty="0">
              <a:sym typeface="+mn-ea"/>
            </a:endParaRPr>
          </a:p>
          <a:p>
            <a:endParaRPr kumimoji="1" lang="en-US" altLang="zh-CN" dirty="0">
              <a:sym typeface="+mn-ea"/>
            </a:endParaRPr>
          </a:p>
          <a:p>
            <a:r>
              <a:rPr kumimoji="1" lang="en-US" altLang="zh-CN" dirty="0">
                <a:sym typeface="+mn-ea"/>
              </a:rPr>
              <a:t>In-class quizzes(30%)</a:t>
            </a:r>
            <a:r>
              <a:rPr kumimoji="1" lang="zh-CN" altLang="en-US" dirty="0">
                <a:sym typeface="+mn-ea"/>
              </a:rPr>
              <a:t>（</a:t>
            </a:r>
            <a:r>
              <a:rPr kumimoji="1" lang="en-US" altLang="zh-CN" dirty="0">
                <a:sym typeface="+mn-ea"/>
              </a:rPr>
              <a:t>more then 6 times</a:t>
            </a:r>
            <a:r>
              <a:rPr kumimoji="1" lang="zh-CN" altLang="en-US" dirty="0">
                <a:sym typeface="+mn-ea"/>
              </a:rPr>
              <a:t>）</a:t>
            </a:r>
            <a:endParaRPr kumimoji="1" lang="en-US" altLang="zh-CN" dirty="0">
              <a:sym typeface="+mn-ea"/>
            </a:endParaRPr>
          </a:p>
          <a:p>
            <a:endParaRPr kumimoji="1" lang="en-US" altLang="zh-CN" dirty="0">
              <a:sym typeface="+mn-ea"/>
            </a:endParaRPr>
          </a:p>
          <a:p>
            <a:r>
              <a:rPr kumimoji="1" lang="en-US" altLang="zh-CN" dirty="0">
                <a:sym typeface="+mn-ea"/>
              </a:rPr>
              <a:t>Final exam(60%)</a:t>
            </a:r>
            <a:endParaRPr kumimoji="1" lang="zh-CN" altLang="en-US" dirty="0"/>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a:spLocks noGrp="1" noRot="1" noChangeAspect="1" noMove="1" noResize="1" noEditPoints="1" noAdjustHandles="1" noChangeArrowheads="1" noChangeShapeType="1" noTextEdit="1"/>
          </p:cNvSpPr>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p:cNvSpPr>
            <a:spLocks noGrp="1" noRot="1" noChangeAspect="1" noMove="1" noResize="1" noEditPoints="1" noAdjustHandles="1" noChangeArrowheads="1" noChangeShapeType="1" noTextEdit="1"/>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1115568" y="548640"/>
            <a:ext cx="10168128" cy="1179576"/>
          </a:xfrm>
        </p:spPr>
        <p:txBody>
          <a:bodyPr>
            <a:normAutofit/>
          </a:bodyPr>
          <a:lstStyle/>
          <a:p>
            <a:r>
              <a:rPr kumimoji="1" lang="en-US" altLang="zh-CN" sz="4000" dirty="0"/>
              <a:t>Homeworks </a:t>
            </a:r>
            <a:r>
              <a:rPr kumimoji="1" lang="en-US" altLang="zh-CN" sz="4000" dirty="0">
                <a:sym typeface="+mn-ea"/>
              </a:rPr>
              <a:t>Requirements </a:t>
            </a:r>
            <a:endParaRPr kumimoji="1" lang="zh-CN" altLang="en-US" sz="4000" dirty="0"/>
          </a:p>
        </p:txBody>
      </p:sp>
      <p:sp>
        <p:nvSpPr>
          <p:cNvPr id="14" name="Rectangle 13"/>
          <p:cNvSpPr>
            <a:spLocks noGrp="1" noRot="1" noChangeAspect="1" noMove="1" noResize="1" noEditPoints="1" noAdjustHandles="1" noChangeArrowheads="1" noChangeShapeType="1" noTextEdit="1"/>
          </p:cNvSpPr>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内容占位符 2"/>
          <p:cNvSpPr>
            <a:spLocks noGrp="1"/>
          </p:cNvSpPr>
          <p:nvPr>
            <p:ph idx="1"/>
          </p:nvPr>
        </p:nvSpPr>
        <p:spPr>
          <a:xfrm>
            <a:off x="1115568" y="2481943"/>
            <a:ext cx="10168128" cy="3695020"/>
          </a:xfrm>
        </p:spPr>
        <p:txBody>
          <a:bodyPr>
            <a:normAutofit/>
          </a:bodyPr>
          <a:lstStyle/>
          <a:p>
            <a:pPr algn="just">
              <a:lnSpc>
                <a:spcPct val="150000"/>
              </a:lnSpc>
            </a:pPr>
            <a:r>
              <a:rPr kumimoji="1" lang="en-US" altLang="zh-CN" sz="2200" dirty="0"/>
              <a:t>You are encouraged to discuss homework problems with others, but must write your homework </a:t>
            </a:r>
            <a:r>
              <a:rPr kumimoji="1" lang="en-US" altLang="zh-CN" sz="2200" b="1" dirty="0">
                <a:solidFill>
                  <a:srgbClr val="FF0000"/>
                </a:solidFill>
              </a:rPr>
              <a:t>independently</a:t>
            </a:r>
            <a:r>
              <a:rPr kumimoji="1" lang="en-US" altLang="zh-CN" sz="2200" dirty="0"/>
              <a:t>.</a:t>
            </a:r>
            <a:endParaRPr kumimoji="1" lang="en-US" altLang="zh-CN" sz="2200" dirty="0"/>
          </a:p>
          <a:p>
            <a:pPr algn="just">
              <a:lnSpc>
                <a:spcPct val="150000"/>
              </a:lnSpc>
            </a:pPr>
            <a:r>
              <a:rPr kumimoji="1" lang="en-US" altLang="zh-CN" sz="2200" dirty="0"/>
              <a:t> </a:t>
            </a:r>
            <a:r>
              <a:rPr kumimoji="1" lang="en-US" altLang="zh-CN" sz="2200" b="1" dirty="0">
                <a:solidFill>
                  <a:srgbClr val="FF0000"/>
                </a:solidFill>
              </a:rPr>
              <a:t>Duplicated</a:t>
            </a:r>
            <a:r>
              <a:rPr kumimoji="1" lang="en-US" altLang="zh-CN" sz="2200" dirty="0"/>
              <a:t> homework or solution with no supporting work receives </a:t>
            </a:r>
            <a:r>
              <a:rPr kumimoji="1" lang="en-US" altLang="zh-CN" sz="2200" b="1" dirty="0">
                <a:solidFill>
                  <a:srgbClr val="FF0000"/>
                </a:solidFill>
              </a:rPr>
              <a:t>no credit</a:t>
            </a:r>
            <a:r>
              <a:rPr kumimoji="1" lang="en-US" altLang="zh-CN" sz="2200" dirty="0"/>
              <a:t>.</a:t>
            </a:r>
            <a:endParaRPr kumimoji="1" lang="en-US" altLang="zh-CN" sz="2200" dirty="0"/>
          </a:p>
          <a:p>
            <a:pPr algn="just">
              <a:lnSpc>
                <a:spcPct val="150000"/>
              </a:lnSpc>
            </a:pPr>
            <a:r>
              <a:rPr kumimoji="1" lang="en-US" altLang="zh-CN" sz="2200" dirty="0"/>
              <a:t>Please complete and hand in your assignments </a:t>
            </a:r>
            <a:r>
              <a:rPr kumimoji="1" lang="en-US" altLang="zh-CN" sz="2200" b="1" dirty="0">
                <a:solidFill>
                  <a:srgbClr val="FF0000"/>
                </a:solidFill>
              </a:rPr>
              <a:t>before</a:t>
            </a:r>
            <a:r>
              <a:rPr kumimoji="1" lang="en-US" altLang="zh-CN" sz="2200" dirty="0"/>
              <a:t> the deadline. </a:t>
            </a:r>
            <a:endParaRPr kumimoji="1" lang="en-US" altLang="zh-CN" sz="2200" b="1"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a:spLocks noGrp="1" noRot="1" noChangeAspect="1" noMove="1" noResize="1" noEditPoints="1" noAdjustHandles="1" noChangeArrowheads="1" noChangeShapeType="1" noTextEdit="1"/>
          </p:cNvSpPr>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p:cNvSpPr>
            <a:spLocks noGrp="1" noRot="1" noChangeAspect="1" noMove="1" noResize="1" noEditPoints="1" noAdjustHandles="1" noChangeArrowheads="1" noChangeShapeType="1" noTextEdit="1"/>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1115568" y="548640"/>
            <a:ext cx="10168128" cy="1179576"/>
          </a:xfrm>
        </p:spPr>
        <p:txBody>
          <a:bodyPr>
            <a:normAutofit/>
          </a:bodyPr>
          <a:lstStyle/>
          <a:p>
            <a:r>
              <a:rPr kumimoji="1" lang="en-US" altLang="zh-CN" sz="4000" dirty="0"/>
              <a:t>In-class Quiz Requirements </a:t>
            </a:r>
            <a:endParaRPr kumimoji="1" lang="zh-CN" altLang="en-US" sz="4000" dirty="0"/>
          </a:p>
        </p:txBody>
      </p:sp>
      <p:sp>
        <p:nvSpPr>
          <p:cNvPr id="14" name="Rectangle 13"/>
          <p:cNvSpPr>
            <a:spLocks noGrp="1" noRot="1" noChangeAspect="1" noMove="1" noResize="1" noEditPoints="1" noAdjustHandles="1" noChangeArrowheads="1" noChangeShapeType="1" noTextEdit="1"/>
          </p:cNvSpPr>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内容占位符 2"/>
          <p:cNvSpPr>
            <a:spLocks noGrp="1"/>
          </p:cNvSpPr>
          <p:nvPr>
            <p:ph idx="1"/>
          </p:nvPr>
        </p:nvSpPr>
        <p:spPr>
          <a:xfrm>
            <a:off x="1115568" y="2481943"/>
            <a:ext cx="10168128" cy="3695020"/>
          </a:xfrm>
        </p:spPr>
        <p:txBody>
          <a:bodyPr>
            <a:normAutofit fontScale="80000"/>
          </a:bodyPr>
          <a:lstStyle/>
          <a:p>
            <a:pPr algn="just">
              <a:lnSpc>
                <a:spcPct val="150000"/>
              </a:lnSpc>
              <a:buClrTx/>
              <a:buSzTx/>
            </a:pPr>
            <a:r>
              <a:rPr kumimoji="1" lang="en-US" altLang="zh-CN" sz="2200" b="1" dirty="0">
                <a:solidFill>
                  <a:srgbClr val="FF0000"/>
                </a:solidFill>
              </a:rPr>
              <a:t>Discussion</a:t>
            </a:r>
            <a:r>
              <a:rPr kumimoji="1" lang="en-US" altLang="zh-CN" sz="2200" dirty="0"/>
              <a:t> during quizzes is allowed, but each student must write and </a:t>
            </a:r>
            <a:r>
              <a:rPr kumimoji="1" lang="en-US" altLang="zh-CN" sz="2200" b="1" dirty="0">
                <a:solidFill>
                  <a:srgbClr val="FF0000"/>
                </a:solidFill>
              </a:rPr>
              <a:t>submit their own work independently</a:t>
            </a:r>
            <a:r>
              <a:rPr kumimoji="1" lang="en-US" altLang="zh-CN" sz="2200" dirty="0"/>
              <a:t>.</a:t>
            </a:r>
            <a:endParaRPr kumimoji="1" lang="en-US" altLang="zh-CN" sz="2200" dirty="0"/>
          </a:p>
          <a:p>
            <a:pPr algn="just">
              <a:lnSpc>
                <a:spcPct val="150000"/>
              </a:lnSpc>
              <a:buClrTx/>
              <a:buSzTx/>
            </a:pPr>
            <a:endParaRPr kumimoji="1" lang="en-US" altLang="zh-CN" sz="2200" dirty="0"/>
          </a:p>
          <a:p>
            <a:pPr algn="just">
              <a:lnSpc>
                <a:spcPct val="150000"/>
              </a:lnSpc>
              <a:buClrTx/>
              <a:buSzTx/>
            </a:pPr>
            <a:r>
              <a:rPr kumimoji="1" lang="en-US" altLang="zh-CN" sz="2200" dirty="0"/>
              <a:t>Quizzes must be </a:t>
            </a:r>
            <a:r>
              <a:rPr kumimoji="1" lang="en-US" altLang="zh-CN" sz="2200" b="1" dirty="0">
                <a:solidFill>
                  <a:srgbClr val="FF0000"/>
                </a:solidFill>
              </a:rPr>
              <a:t>handed in during class </a:t>
            </a:r>
            <a:r>
              <a:rPr kumimoji="1" lang="en-US" altLang="zh-CN" sz="2200" dirty="0"/>
              <a:t>and will also serve as verification of attendance.</a:t>
            </a:r>
            <a:endParaRPr kumimoji="1" lang="en-US" altLang="zh-CN" sz="2200" dirty="0"/>
          </a:p>
          <a:p>
            <a:pPr algn="just">
              <a:lnSpc>
                <a:spcPct val="150000"/>
              </a:lnSpc>
              <a:buClrTx/>
              <a:buSzTx/>
            </a:pPr>
            <a:endParaRPr kumimoji="1" lang="en-US" altLang="zh-CN" sz="2200" dirty="0"/>
          </a:p>
          <a:p>
            <a:pPr algn="just">
              <a:lnSpc>
                <a:spcPct val="150000"/>
              </a:lnSpc>
              <a:buClrTx/>
              <a:buSzTx/>
            </a:pPr>
            <a:r>
              <a:rPr kumimoji="1" lang="en-US" altLang="zh-CN" sz="2200" dirty="0"/>
              <a:t>Writing or </a:t>
            </a:r>
            <a:r>
              <a:rPr kumimoji="1" lang="en-US" altLang="zh-CN" sz="2200" b="1" dirty="0">
                <a:solidFill>
                  <a:srgbClr val="FF0000"/>
                </a:solidFill>
              </a:rPr>
              <a:t>submitting quizzes on behalf of others is strictly forbidden</a:t>
            </a:r>
            <a:r>
              <a:rPr kumimoji="1" lang="en-US" altLang="zh-CN" sz="2200" dirty="0"/>
              <a:t> and will result in disqualification of the quiz score.</a:t>
            </a:r>
            <a:endParaRPr kumimoji="1" lang="en-US" altLang="zh-CN"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a:spLocks noGrp="1" noRot="1" noChangeAspect="1" noMove="1" noResize="1" noEditPoints="1" noAdjustHandles="1" noChangeArrowheads="1" noChangeShapeType="1" noTextEdit="1"/>
          </p:cNvSpPr>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p:cNvSpPr>
            <a:spLocks noGrp="1" noRot="1" noChangeAspect="1" noMove="1" noResize="1" noEditPoints="1" noAdjustHandles="1" noChangeArrowheads="1" noChangeShapeType="1" noTextEdit="1"/>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1115568" y="548640"/>
            <a:ext cx="10168128" cy="1179576"/>
          </a:xfrm>
        </p:spPr>
        <p:txBody>
          <a:bodyPr>
            <a:normAutofit/>
          </a:bodyPr>
          <a:lstStyle/>
          <a:p>
            <a:r>
              <a:rPr kumimoji="1" lang="en-US" altLang="zh-CN" sz="4000" dirty="0"/>
              <a:t>Homeworks and quizzes score grades</a:t>
            </a:r>
            <a:endParaRPr kumimoji="1" lang="zh-CN" altLang="en-US" sz="4000" dirty="0"/>
          </a:p>
        </p:txBody>
      </p:sp>
      <p:sp>
        <p:nvSpPr>
          <p:cNvPr id="14" name="Rectangle 13"/>
          <p:cNvSpPr>
            <a:spLocks noGrp="1" noRot="1" noChangeAspect="1" noMove="1" noResize="1" noEditPoints="1" noAdjustHandles="1" noChangeArrowheads="1" noChangeShapeType="1" noTextEdit="1"/>
          </p:cNvSpPr>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内容占位符 2"/>
          <p:cNvSpPr>
            <a:spLocks noGrp="1"/>
          </p:cNvSpPr>
          <p:nvPr>
            <p:ph idx="1"/>
          </p:nvPr>
        </p:nvSpPr>
        <p:spPr>
          <a:xfrm>
            <a:off x="848995" y="2059940"/>
            <a:ext cx="10434955" cy="4457065"/>
          </a:xfrm>
        </p:spPr>
        <p:txBody>
          <a:bodyPr>
            <a:normAutofit fontScale="60000"/>
          </a:bodyPr>
          <a:lstStyle/>
          <a:p>
            <a:pPr algn="just">
              <a:lnSpc>
                <a:spcPct val="150000"/>
              </a:lnSpc>
              <a:buClrTx/>
              <a:buSzTx/>
            </a:pPr>
            <a:r>
              <a:rPr kumimoji="1" lang="en-US" altLang="zh-CN" sz="2200" b="1" dirty="0">
                <a:solidFill>
                  <a:srgbClr val="FF0000"/>
                </a:solidFill>
              </a:rPr>
              <a:t>90-100: </a:t>
            </a:r>
            <a:r>
              <a:rPr kumimoji="1" lang="en-US" altLang="zh-CN" sz="2200" dirty="0"/>
              <a:t>Correct answers with detailed problem-solving steps. Submission made prior to the deadline. Small errors in calculation. No plagiarism involved. No detectable traces of AI usage.</a:t>
            </a:r>
            <a:endParaRPr kumimoji="1" lang="en-US" altLang="zh-CN" sz="2200" dirty="0"/>
          </a:p>
          <a:p>
            <a:pPr algn="just">
              <a:lnSpc>
                <a:spcPct val="150000"/>
              </a:lnSpc>
              <a:buClrTx/>
              <a:buSzTx/>
            </a:pPr>
            <a:r>
              <a:rPr kumimoji="1" lang="en-US" altLang="zh-CN" sz="2200" b="1" dirty="0">
                <a:solidFill>
                  <a:srgbClr val="FF0000"/>
                </a:solidFill>
              </a:rPr>
              <a:t>70-89: </a:t>
            </a:r>
            <a:r>
              <a:rPr kumimoji="1" lang="en-US" altLang="zh-CN" sz="2200" dirty="0"/>
              <a:t>Wrong answers with correct detailed problem-solving steps. A few errors in calculations. Submission made prior to the deadline. No plagiarism involved. No detectable traces of AI usage.</a:t>
            </a:r>
            <a:endParaRPr kumimoji="1" lang="en-US" altLang="zh-CN" sz="2200" dirty="0"/>
          </a:p>
          <a:p>
            <a:pPr algn="just">
              <a:lnSpc>
                <a:spcPct val="150000"/>
              </a:lnSpc>
              <a:buClrTx/>
              <a:buSzTx/>
            </a:pPr>
            <a:r>
              <a:rPr kumimoji="1" lang="en-US" altLang="zh-CN" sz="2200" b="1" dirty="0">
                <a:solidFill>
                  <a:srgbClr val="FF0000"/>
                </a:solidFill>
              </a:rPr>
              <a:t>61-69: </a:t>
            </a:r>
            <a:r>
              <a:rPr kumimoji="1" lang="en-US" altLang="zh-CN" sz="2200" dirty="0"/>
              <a:t>Wrong answers. Wrong problem-solving steps. Many errors in calculations. Submitted prior to the deadline. No plagiarism involved. No detectable traces of AI usage.</a:t>
            </a:r>
            <a:endParaRPr kumimoji="1" lang="en-US" altLang="zh-CN" sz="2200" dirty="0"/>
          </a:p>
          <a:p>
            <a:pPr algn="just">
              <a:lnSpc>
                <a:spcPct val="150000"/>
              </a:lnSpc>
              <a:buClrTx/>
              <a:buSzTx/>
            </a:pPr>
            <a:r>
              <a:rPr kumimoji="1" lang="en-US" altLang="zh-CN" sz="2200" b="1" dirty="0">
                <a:solidFill>
                  <a:srgbClr val="FF0000"/>
                </a:solidFill>
              </a:rPr>
              <a:t>≤60:</a:t>
            </a:r>
            <a:r>
              <a:rPr kumimoji="1" lang="en-US" altLang="zh-CN" sz="2200" dirty="0"/>
              <a:t> Submitted 1 day later then deadline (and apply above criteria simultaneously). No detailed problem-solving steps. No plagiarism involved. No detectable traces of AI usage.</a:t>
            </a:r>
            <a:endParaRPr kumimoji="1" lang="en-US" altLang="zh-CN" sz="2200" dirty="0"/>
          </a:p>
          <a:p>
            <a:pPr algn="just">
              <a:lnSpc>
                <a:spcPct val="150000"/>
              </a:lnSpc>
              <a:buClrTx/>
              <a:buSzTx/>
            </a:pPr>
            <a:r>
              <a:rPr kumimoji="1" lang="en-US" altLang="zh-CN" sz="2200" b="1" dirty="0">
                <a:solidFill>
                  <a:srgbClr val="FF0000"/>
                </a:solidFill>
              </a:rPr>
              <a:t>0: </a:t>
            </a:r>
            <a:r>
              <a:rPr kumimoji="1" lang="en-US" altLang="zh-CN" sz="2200" dirty="0"/>
              <a:t>Submitted 3 days later then deadline (and apply above criteria simultaneously). Obvious traces of plagiarism or AI usage.</a:t>
            </a:r>
            <a:endParaRPr kumimoji="1" lang="en-US" altLang="zh-CN" sz="2200" dirty="0"/>
          </a:p>
          <a:p>
            <a:pPr algn="just">
              <a:lnSpc>
                <a:spcPct val="150000"/>
              </a:lnSpc>
              <a:buClrTx/>
              <a:buSzTx/>
            </a:pPr>
            <a:r>
              <a:rPr kumimoji="1" lang="en-US" altLang="zh-CN" sz="2200" dirty="0"/>
              <a:t>One day late, 60 in maximum. Three days late, zero score might be given. If plagiarism is found, a zero score will be given.</a:t>
            </a:r>
            <a:endParaRPr kumimoji="1" lang="en-US" altLang="zh-CN" sz="2200" dirty="0"/>
          </a:p>
          <a:p>
            <a:pPr algn="just">
              <a:lnSpc>
                <a:spcPct val="150000"/>
              </a:lnSpc>
              <a:buClrTx/>
              <a:buSzTx/>
            </a:pPr>
            <a:r>
              <a:rPr kumimoji="1" lang="en-US" altLang="zh-CN" sz="2200" dirty="0"/>
              <a:t>晚一天提交，最多60分。晚三天及以上，可以给予零分。有抄袭痕迹为零分。</a:t>
            </a:r>
            <a:endParaRPr kumimoji="1" lang="en-US" altLang="zh-CN"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a:spLocks noGrp="1" noRot="1" noChangeAspect="1" noMove="1" noResize="1" noEditPoints="1" noAdjustHandles="1" noChangeArrowheads="1" noChangeShapeType="1" noTextEdit="1"/>
          </p:cNvSpPr>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p:cNvSpPr>
            <a:spLocks noGrp="1" noRot="1" noChangeAspect="1" noMove="1" noResize="1" noEditPoints="1" noAdjustHandles="1" noChangeArrowheads="1" noChangeShapeType="1" noTextEdit="1"/>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1115568" y="548640"/>
            <a:ext cx="10168128" cy="1179576"/>
          </a:xfrm>
        </p:spPr>
        <p:txBody>
          <a:bodyPr>
            <a:normAutofit/>
          </a:bodyPr>
          <a:lstStyle/>
          <a:p>
            <a:r>
              <a:rPr kumimoji="1" lang="en-US" altLang="zh-CN" sz="4000" dirty="0"/>
              <a:t>Final Exam</a:t>
            </a:r>
            <a:endParaRPr kumimoji="1" lang="zh-CN" altLang="en-US" sz="4000" dirty="0"/>
          </a:p>
        </p:txBody>
      </p:sp>
      <p:sp>
        <p:nvSpPr>
          <p:cNvPr id="14" name="Rectangle 13"/>
          <p:cNvSpPr>
            <a:spLocks noGrp="1" noRot="1" noChangeAspect="1" noMove="1" noResize="1" noEditPoints="1" noAdjustHandles="1" noChangeArrowheads="1" noChangeShapeType="1" noTextEdit="1"/>
          </p:cNvSpPr>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内容占位符 2"/>
          <p:cNvSpPr>
            <a:spLocks noGrp="1"/>
          </p:cNvSpPr>
          <p:nvPr>
            <p:ph idx="1"/>
          </p:nvPr>
        </p:nvSpPr>
        <p:spPr>
          <a:xfrm>
            <a:off x="1115568" y="2481943"/>
            <a:ext cx="10168128" cy="3695020"/>
          </a:xfrm>
        </p:spPr>
        <p:txBody>
          <a:bodyPr>
            <a:normAutofit/>
          </a:bodyPr>
          <a:lstStyle/>
          <a:p>
            <a:pPr algn="just">
              <a:lnSpc>
                <a:spcPct val="150000"/>
              </a:lnSpc>
              <a:buClrTx/>
              <a:buSzTx/>
            </a:pPr>
            <a:r>
              <a:rPr kumimoji="1" lang="en-US" altLang="zh-CN" sz="2200" dirty="0"/>
              <a:t>The final exam will be held at a </a:t>
            </a:r>
            <a:r>
              <a:rPr kumimoji="1" lang="en-US" altLang="zh-CN" sz="2200" b="1" dirty="0">
                <a:solidFill>
                  <a:srgbClr val="FF0000"/>
                </a:solidFill>
              </a:rPr>
              <a:t>unified time for all class sections</a:t>
            </a:r>
            <a:r>
              <a:rPr kumimoji="1" lang="en-US" altLang="zh-CN" sz="2200" dirty="0"/>
              <a:t>.</a:t>
            </a:r>
            <a:endParaRPr kumimoji="1" lang="en-US" altLang="zh-CN" sz="2200" dirty="0"/>
          </a:p>
          <a:p>
            <a:pPr algn="just">
              <a:lnSpc>
                <a:spcPct val="150000"/>
              </a:lnSpc>
              <a:buClrTx/>
              <a:buSzTx/>
            </a:pPr>
            <a:endParaRPr kumimoji="1" lang="en-US" altLang="zh-CN" sz="2200" dirty="0"/>
          </a:p>
          <a:p>
            <a:pPr algn="just">
              <a:lnSpc>
                <a:spcPct val="150000"/>
              </a:lnSpc>
              <a:buClrTx/>
              <a:buSzTx/>
            </a:pPr>
            <a:r>
              <a:rPr kumimoji="1" lang="en-US" altLang="zh-CN" sz="2200" dirty="0"/>
              <a:t>It is a</a:t>
            </a:r>
            <a:r>
              <a:rPr kumimoji="1" lang="en-US" altLang="zh-CN" sz="2200" b="1" dirty="0">
                <a:solidFill>
                  <a:srgbClr val="FF0000"/>
                </a:solidFill>
              </a:rPr>
              <a:t> closed-book exam</a:t>
            </a:r>
            <a:r>
              <a:rPr kumimoji="1" lang="en-US" altLang="zh-CN" sz="2200" dirty="0"/>
              <a:t>.</a:t>
            </a:r>
            <a:endParaRPr kumimoji="1" lang="en-US" altLang="zh-CN" sz="2200" dirty="0"/>
          </a:p>
          <a:p>
            <a:pPr algn="just">
              <a:lnSpc>
                <a:spcPct val="150000"/>
              </a:lnSpc>
              <a:buClrTx/>
              <a:buSzTx/>
            </a:pPr>
            <a:endParaRPr kumimoji="1" lang="en-US" altLang="zh-CN" sz="2200" dirty="0"/>
          </a:p>
          <a:p>
            <a:pPr algn="just">
              <a:lnSpc>
                <a:spcPct val="150000"/>
              </a:lnSpc>
              <a:buClrTx/>
              <a:buSzTx/>
            </a:pPr>
            <a:r>
              <a:rPr kumimoji="1" lang="en-US" altLang="zh-CN" sz="2200" dirty="0"/>
              <a:t>A </a:t>
            </a:r>
            <a:r>
              <a:rPr kumimoji="1" lang="en-US" altLang="zh-CN" sz="2200" b="1" dirty="0">
                <a:solidFill>
                  <a:srgbClr val="FF0000"/>
                </a:solidFill>
              </a:rPr>
              <a:t>formula sheet will be provided </a:t>
            </a:r>
            <a:r>
              <a:rPr kumimoji="1" lang="en-US" altLang="zh-CN" sz="2200" dirty="0"/>
              <a:t>for reference.</a:t>
            </a:r>
            <a:endParaRPr kumimoji="1" lang="en-US" altLang="zh-CN"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p:cNvSpPr>
            <a:spLocks noGrp="1"/>
          </p:cNvSpPr>
          <p:nvPr>
            <p:ph type="title"/>
          </p:nvPr>
        </p:nvSpPr>
        <p:spPr>
          <a:xfrm>
            <a:off x="567656" y="698713"/>
            <a:ext cx="6268770" cy="1536192"/>
          </a:xfrm>
        </p:spPr>
        <p:txBody>
          <a:bodyPr anchor="b">
            <a:normAutofit/>
          </a:bodyPr>
          <a:lstStyle/>
          <a:p>
            <a:r>
              <a:rPr kumimoji="1" lang="en-US" altLang="zh-CN" sz="5200" dirty="0"/>
              <a:t>Textbook</a:t>
            </a:r>
            <a:endParaRPr kumimoji="1" lang="zh-CN" altLang="en-US" sz="5200" dirty="0"/>
          </a:p>
        </p:txBody>
      </p:sp>
      <p:sp>
        <p:nvSpPr>
          <p:cNvPr id="11" name="Rectangle 10"/>
          <p:cNvSpPr>
            <a:spLocks noGrp="1" noRot="1" noChangeAspect="1" noMove="1" noResize="1" noEditPoints="1" noAdjustHandles="1" noChangeArrowheads="1" noChangeShapeType="1" noTextEdit="1"/>
          </p:cNvSpPr>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p:cNvSpPr>
            <a:spLocks noGrp="1" noRot="1" noChangeAspect="1" noMove="1" noResize="1" noEditPoints="1" noAdjustHandles="1" noChangeArrowheads="1" noChangeShapeType="1" noTextEdit="1"/>
          </p:cNvSpPr>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内容占位符 2"/>
          <p:cNvSpPr>
            <a:spLocks noGrp="1"/>
          </p:cNvSpPr>
          <p:nvPr>
            <p:ph idx="1"/>
          </p:nvPr>
        </p:nvSpPr>
        <p:spPr>
          <a:xfrm>
            <a:off x="639270" y="3355848"/>
            <a:ext cx="6244957" cy="2825496"/>
          </a:xfrm>
        </p:spPr>
        <p:txBody>
          <a:bodyPr>
            <a:normAutofit fontScale="92500" lnSpcReduction="20000"/>
          </a:bodyPr>
          <a:lstStyle/>
          <a:p>
            <a:pPr>
              <a:lnSpc>
                <a:spcPct val="120000"/>
              </a:lnSpc>
            </a:pPr>
            <a:r>
              <a:rPr kumimoji="1" lang="en-US" altLang="zh-CN" sz="2200" dirty="0"/>
              <a:t>Bowerman, O'Connell and Murphree</a:t>
            </a:r>
            <a:endParaRPr kumimoji="1" lang="en-US" altLang="zh-CN" sz="2200" dirty="0"/>
          </a:p>
          <a:p>
            <a:pPr>
              <a:lnSpc>
                <a:spcPct val="120000"/>
              </a:lnSpc>
            </a:pPr>
            <a:r>
              <a:rPr kumimoji="1" lang="en-US" altLang="zh-CN" sz="2200" b="1" i="1" u="sng" dirty="0"/>
              <a:t>Business Statistics in Practice </a:t>
            </a:r>
            <a:endParaRPr kumimoji="1" lang="en-US" altLang="zh-CN" sz="2200" b="1" i="1" u="sng" dirty="0"/>
          </a:p>
          <a:p>
            <a:pPr>
              <a:lnSpc>
                <a:spcPct val="120000"/>
              </a:lnSpc>
            </a:pPr>
            <a:endParaRPr kumimoji="1" lang="en-US" altLang="zh-CN" sz="2200" b="1" i="1" u="sng" dirty="0"/>
          </a:p>
          <a:p>
            <a:pPr algn="just">
              <a:lnSpc>
                <a:spcPct val="120000"/>
              </a:lnSpc>
              <a:spcAft>
                <a:spcPts val="0"/>
              </a:spcAft>
            </a:pPr>
            <a:r>
              <a:rPr lang="en-US" altLang="zh-CN" sz="1800" kern="50" dirty="0">
                <a:effectLst/>
                <a:latin typeface="Times New Roman" panose="02020603050405020304" pitchFamily="18" charset="0"/>
                <a:ea typeface="黑体" panose="02010609060101010101" pitchFamily="49" charset="-122"/>
                <a:cs typeface="Times New Roman" panose="02020603050405020304" pitchFamily="18" charset="0"/>
              </a:rPr>
              <a:t>Bruce L. Bowerman, Richard T.  O</a:t>
            </a:r>
            <a:r>
              <a:rPr lang="zh-CN" altLang="zh-CN" sz="1800" kern="50" dirty="0">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1800" kern="50" dirty="0">
                <a:effectLst/>
                <a:latin typeface="Times New Roman" panose="02020603050405020304" pitchFamily="18" charset="0"/>
                <a:ea typeface="黑体" panose="02010609060101010101" pitchFamily="49" charset="-122"/>
                <a:cs typeface="Times New Roman" panose="02020603050405020304" pitchFamily="18" charset="0"/>
              </a:rPr>
              <a:t>Connell , </a:t>
            </a:r>
            <a:r>
              <a:rPr lang="en-US" altLang="zh-CN" sz="1800" kern="50" dirty="0">
                <a:latin typeface="Times New Roman" panose="02020603050405020304" pitchFamily="18" charset="0"/>
                <a:ea typeface="黑体" panose="02010609060101010101" pitchFamily="49" charset="-122"/>
                <a:cs typeface="Times New Roman" panose="02020603050405020304" pitchFamily="18" charset="0"/>
              </a:rPr>
              <a:t> Emily S. </a:t>
            </a:r>
            <a:r>
              <a:rPr lang="en-US" altLang="zh-CN" sz="1800" kern="50" dirty="0">
                <a:effectLst/>
                <a:latin typeface="Times New Roman" panose="02020603050405020304" pitchFamily="18" charset="0"/>
                <a:ea typeface="黑体" panose="02010609060101010101" pitchFamily="49" charset="-122"/>
                <a:cs typeface="Times New Roman" panose="02020603050405020304" pitchFamily="18" charset="0"/>
              </a:rPr>
              <a:t>Murphree </a:t>
            </a:r>
            <a:endParaRPr lang="en-US" altLang="zh-CN" sz="1800" kern="50" dirty="0">
              <a:effectLst/>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20000"/>
              </a:lnSpc>
              <a:spcAft>
                <a:spcPts val="0"/>
              </a:spcAft>
            </a:pPr>
            <a:r>
              <a:rPr lang="en-US" altLang="zh-CN" sz="1800" kern="50" dirty="0">
                <a:effectLst/>
                <a:latin typeface="Times New Roman" panose="02020603050405020304" pitchFamily="18" charset="0"/>
                <a:ea typeface="黑体" panose="02010609060101010101" pitchFamily="49" charset="-122"/>
                <a:cs typeface="Times New Roman" panose="02020603050405020304" pitchFamily="18" charset="0"/>
                <a:sym typeface="+mn-ea"/>
              </a:rPr>
              <a:t>Business Statistics in Practice</a:t>
            </a:r>
            <a:r>
              <a:rPr lang="en-US" altLang="zh-CN" sz="1800" kern="50" dirty="0">
                <a:effectLst/>
                <a:latin typeface="Times New Roman" panose="02020603050405020304" pitchFamily="18" charset="0"/>
                <a:ea typeface="黑体" panose="02010609060101010101" pitchFamily="49" charset="-122"/>
                <a:cs typeface="Times New Roman" panose="02020603050405020304" pitchFamily="18" charset="0"/>
              </a:rPr>
              <a:t> (Seventh  Edition) </a:t>
            </a:r>
            <a:endParaRPr lang="en-US" altLang="zh-CN" sz="1800" kern="50" dirty="0">
              <a:effectLst/>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20000"/>
              </a:lnSpc>
              <a:spcAft>
                <a:spcPts val="0"/>
              </a:spcAft>
            </a:pPr>
            <a:r>
              <a:rPr lang="en-US" altLang="zh-CN" sz="1800" kern="50" dirty="0">
                <a:effectLst/>
                <a:latin typeface="Times New Roman" panose="02020603050405020304" pitchFamily="18" charset="0"/>
                <a:ea typeface="黑体" panose="02010609060101010101" pitchFamily="49" charset="-122"/>
                <a:cs typeface="Times New Roman" panose="02020603050405020304" pitchFamily="18" charset="0"/>
              </a:rPr>
              <a:t>ISBN-10</a:t>
            </a:r>
            <a:r>
              <a:rPr lang="zh-CN" altLang="zh-CN" sz="1800" kern="50" dirty="0">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1800" kern="50" dirty="0">
                <a:effectLst/>
                <a:latin typeface="Times New Roman" panose="02020603050405020304" pitchFamily="18" charset="0"/>
                <a:ea typeface="黑体" panose="02010609060101010101" pitchFamily="49" charset="-122"/>
                <a:cs typeface="Times New Roman" panose="02020603050405020304" pitchFamily="18" charset="0"/>
              </a:rPr>
              <a:t>0-07-352149-3 </a:t>
            </a:r>
            <a:r>
              <a:rPr lang="en-US" altLang="zh-CN" sz="1800" kern="50" dirty="0">
                <a:effectLst/>
                <a:latin typeface="Times New Roman" panose="02020603050405020304" pitchFamily="18" charset="0"/>
                <a:ea typeface="黑体" panose="02010609060101010101" pitchFamily="49" charset="-122"/>
                <a:cs typeface="Times New Roman" panose="02020603050405020304" pitchFamily="18" charset="0"/>
              </a:rPr>
              <a:t>Copyright © 2014 by The McGraw-Hill Companies.</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20000"/>
              </a:lnSpc>
            </a:pPr>
            <a:endParaRPr kumimoji="1" lang="en-US" altLang="zh-CN" sz="2200" b="1" i="1" u="sng" dirty="0"/>
          </a:p>
          <a:p>
            <a:pPr>
              <a:lnSpc>
                <a:spcPct val="120000"/>
              </a:lnSpc>
            </a:pPr>
            <a:endParaRPr kumimoji="1" lang="zh-CN" altLang="en-US" sz="2200" dirty="0"/>
          </a:p>
        </p:txBody>
      </p:sp>
      <p:pic>
        <p:nvPicPr>
          <p:cNvPr id="6" name="图片 5"/>
          <p:cNvPicPr>
            <a:picLocks noChangeAspect="1"/>
          </p:cNvPicPr>
          <p:nvPr/>
        </p:nvPicPr>
        <p:blipFill>
          <a:blip r:embed="rId1"/>
          <a:stretch>
            <a:fillRect/>
          </a:stretch>
        </p:blipFill>
        <p:spPr>
          <a:xfrm>
            <a:off x="7225110" y="698713"/>
            <a:ext cx="3276768" cy="4762745"/>
          </a:xfrm>
          <a:prstGeom prst="rect">
            <a:avLst/>
          </a:prstGeom>
        </p:spPr>
      </p:pic>
      <p:pic>
        <p:nvPicPr>
          <p:cNvPr id="4" name="图片 1"/>
          <p:cNvPicPr>
            <a:picLocks noChangeAspect="1"/>
          </p:cNvPicPr>
          <p:nvPr/>
        </p:nvPicPr>
        <p:blipFill rotWithShape="1">
          <a:blip r:embed="rId2">
            <a:extLst>
              <a:ext uri="{28A0092B-C50C-407E-A947-70E740481C1C}">
                <a14:useLocalDpi xmlns:a14="http://schemas.microsoft.com/office/drawing/2010/main" val="0"/>
              </a:ext>
            </a:extLst>
          </a:blip>
          <a:srcRect l="5827" r="1956" b="3"/>
          <a:stretch>
            <a:fillRect/>
          </a:stretch>
        </p:blipFill>
        <p:spPr bwMode="auto">
          <a:xfrm>
            <a:off x="8097475" y="746628"/>
            <a:ext cx="4050792" cy="557784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a:spLocks noGrp="1" noRot="1" noChangeAspect="1" noMove="1" noResize="1" noEditPoints="1" noAdjustHandles="1" noChangeArrowheads="1" noChangeShapeType="1" noTextEdit="1"/>
          </p:cNvSpPr>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p:cNvSpPr>
            <a:spLocks noGrp="1" noRot="1" noChangeAspect="1" noMove="1" noResize="1" noEditPoints="1" noAdjustHandles="1" noChangeArrowheads="1" noChangeShapeType="1" noTextEdit="1"/>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1115568" y="548640"/>
            <a:ext cx="10168128" cy="1179576"/>
          </a:xfrm>
        </p:spPr>
        <p:txBody>
          <a:bodyPr>
            <a:normAutofit/>
          </a:bodyPr>
          <a:lstStyle/>
          <a:p>
            <a:r>
              <a:rPr kumimoji="1" lang="en-US" altLang="zh-CN" sz="4000" dirty="0"/>
              <a:t>Reference</a:t>
            </a:r>
            <a:endParaRPr kumimoji="1" lang="zh-CN" altLang="en-US" sz="4000" dirty="0"/>
          </a:p>
        </p:txBody>
      </p:sp>
      <p:sp>
        <p:nvSpPr>
          <p:cNvPr id="14" name="Rectangle 13"/>
          <p:cNvSpPr>
            <a:spLocks noGrp="1" noRot="1" noChangeAspect="1" noMove="1" noResize="1" noEditPoints="1" noAdjustHandles="1" noChangeArrowheads="1" noChangeShapeType="1" noTextEdit="1"/>
          </p:cNvSpPr>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内容占位符 2"/>
          <p:cNvSpPr>
            <a:spLocks noGrp="1"/>
          </p:cNvSpPr>
          <p:nvPr>
            <p:ph idx="1"/>
          </p:nvPr>
        </p:nvSpPr>
        <p:spPr>
          <a:xfrm>
            <a:off x="715518" y="1936057"/>
            <a:ext cx="10420568" cy="5004692"/>
          </a:xfrm>
        </p:spPr>
        <p:txBody>
          <a:bodyPr>
            <a:normAutofit fontScale="92500" lnSpcReduction="10000"/>
          </a:bodyPr>
          <a:lstStyle/>
          <a:p>
            <a:pPr lvl="0">
              <a:lnSpc>
                <a:spcPct val="160000"/>
              </a:lnSpc>
              <a:spcBef>
                <a:spcPts val="0"/>
              </a:spcBef>
            </a:pPr>
            <a:r>
              <a:rPr lang="en-US" altLang="zh-CN" sz="1400" dirty="0"/>
              <a:t>D. Freedman, R. Pisani and R. Purves, Statistics, 3rd Ed., Norton, 1998. </a:t>
            </a:r>
            <a:endParaRPr lang="zh-CN" altLang="zh-CN" sz="1400" dirty="0"/>
          </a:p>
          <a:p>
            <a:pPr>
              <a:lnSpc>
                <a:spcPct val="160000"/>
              </a:lnSpc>
              <a:spcBef>
                <a:spcPts val="0"/>
              </a:spcBef>
            </a:pPr>
            <a:r>
              <a:rPr lang="en-US" altLang="zh-CN" sz="1400" dirty="0"/>
              <a:t>Chapter 1-18, 20-23, 26-28.</a:t>
            </a:r>
            <a:endParaRPr lang="zh-CN" altLang="zh-CN" sz="1400" dirty="0"/>
          </a:p>
          <a:p>
            <a:pPr lvl="0">
              <a:lnSpc>
                <a:spcPct val="160000"/>
              </a:lnSpc>
              <a:spcBef>
                <a:spcPts val="0"/>
              </a:spcBef>
            </a:pPr>
            <a:r>
              <a:rPr lang="en-US" altLang="zh-CN" sz="1400" dirty="0"/>
              <a:t>W. Feller, Introduction to Probability Theory and Its Applications, Vol. 1, 3rd Ed., Wiley, 1968. page 1-258 J.E. Freund, Mathematical Statistics, 5th Ed., Prentice Hall, 1992, Chapter 1-9.</a:t>
            </a:r>
            <a:endParaRPr lang="zh-CN" altLang="zh-CN" sz="1400" dirty="0"/>
          </a:p>
          <a:p>
            <a:pPr lvl="0">
              <a:lnSpc>
                <a:spcPct val="160000"/>
              </a:lnSpc>
              <a:spcBef>
                <a:spcPts val="0"/>
              </a:spcBef>
            </a:pPr>
            <a:r>
              <a:rPr lang="en-US" altLang="zh-CN" sz="1400" dirty="0" err="1"/>
              <a:t>Salsburg</a:t>
            </a:r>
            <a:r>
              <a:rPr lang="en-US" altLang="zh-CN" sz="1400" dirty="0"/>
              <a:t>, The Lady Tasting Tea.  How Statistics Revolutionized Science in the Twentieth Century, Freeman, 2001, Chapter 11-12</a:t>
            </a:r>
            <a:endParaRPr lang="zh-CN" altLang="zh-CN" sz="1400" dirty="0"/>
          </a:p>
          <a:p>
            <a:pPr lvl="0">
              <a:lnSpc>
                <a:spcPct val="160000"/>
              </a:lnSpc>
              <a:spcBef>
                <a:spcPts val="0"/>
              </a:spcBef>
            </a:pPr>
            <a:r>
              <a:rPr lang="en-US" altLang="zh-CN" sz="1400" u="sng" dirty="0">
                <a:hlinkClick r:id="rId1"/>
              </a:rPr>
              <a:t>Viktor Mayer-Schönberger</a:t>
            </a:r>
            <a:r>
              <a:rPr lang="en-US" altLang="zh-CN" sz="1400" dirty="0"/>
              <a:t> and </a:t>
            </a:r>
            <a:r>
              <a:rPr lang="en-US" altLang="zh-CN" sz="1400" u="sng" dirty="0">
                <a:hlinkClick r:id="rId2"/>
              </a:rPr>
              <a:t>Kenneth Cukier</a:t>
            </a:r>
            <a:r>
              <a:rPr lang="en-US" altLang="zh-CN" sz="1400" dirty="0"/>
              <a:t>, </a:t>
            </a:r>
            <a:r>
              <a:rPr lang="en-US" altLang="zh-CN" sz="1400" u="sng" dirty="0">
                <a:hlinkClick r:id="rId3"/>
              </a:rPr>
              <a:t>Big Data: A Revolution That Will Transform How We Live, Work, and Think</a:t>
            </a:r>
            <a:r>
              <a:rPr lang="en-US" altLang="zh-CN" sz="1400" dirty="0"/>
              <a:t>, Eamon Dolan/Mariner Books, 2014.</a:t>
            </a:r>
            <a:endParaRPr lang="zh-CN" altLang="zh-CN" sz="1400" dirty="0"/>
          </a:p>
          <a:p>
            <a:pPr lvl="0">
              <a:lnSpc>
                <a:spcPct val="160000"/>
              </a:lnSpc>
              <a:spcBef>
                <a:spcPts val="0"/>
              </a:spcBef>
            </a:pPr>
            <a:r>
              <a:rPr lang="en-US" altLang="zh-CN" sz="1400" dirty="0"/>
              <a:t>Charles Wheelan, </a:t>
            </a:r>
            <a:r>
              <a:rPr lang="en-US" altLang="zh-CN" sz="1400" u="sng" dirty="0">
                <a:hlinkClick r:id="rId4"/>
              </a:rPr>
              <a:t>Naked Statistics: Stripping the Dread from the Data</a:t>
            </a:r>
            <a:r>
              <a:rPr lang="en-US" altLang="zh-CN" sz="1400" dirty="0"/>
              <a:t>, W. W. Norton &amp; Company, 2014.</a:t>
            </a:r>
            <a:endParaRPr lang="zh-CN" altLang="zh-CN" sz="1400" dirty="0"/>
          </a:p>
          <a:p>
            <a:pPr lvl="0">
              <a:lnSpc>
                <a:spcPct val="160000"/>
              </a:lnSpc>
              <a:spcBef>
                <a:spcPts val="0"/>
              </a:spcBef>
            </a:pPr>
            <a:r>
              <a:rPr lang="en-US" altLang="zh-CN" sz="1400" dirty="0"/>
              <a:t>Joel Best and Patrick Lawlor, </a:t>
            </a:r>
            <a:r>
              <a:rPr lang="en-US" altLang="zh-CN" sz="1400" u="sng" dirty="0">
                <a:hlinkClick r:id="rId5"/>
              </a:rPr>
              <a:t>Damned Lies and Statistics: Untangling Numbers from the Media, Politicians, and Activists</a:t>
            </a:r>
            <a:r>
              <a:rPr lang="en-US" altLang="zh-CN" sz="1400" dirty="0"/>
              <a:t>, University of California Press; First Edition, 2012.</a:t>
            </a:r>
            <a:endParaRPr lang="zh-CN" altLang="zh-CN" sz="1400" dirty="0"/>
          </a:p>
          <a:p>
            <a:pPr lvl="0">
              <a:lnSpc>
                <a:spcPct val="160000"/>
              </a:lnSpc>
              <a:spcBef>
                <a:spcPts val="0"/>
              </a:spcBef>
            </a:pPr>
            <a:r>
              <a:rPr lang="en-US" altLang="zh-CN" sz="1400" u="sng" dirty="0">
                <a:hlinkClick r:id="rId6"/>
              </a:rPr>
              <a:t>Dana K. Keller, The Tao of Statistics: A Path to Understanding (With No Math)</a:t>
            </a:r>
            <a:r>
              <a:rPr lang="en-US" altLang="zh-CN" sz="1400" dirty="0"/>
              <a:t>, SAGE Publications, Inc, 2005.</a:t>
            </a:r>
            <a:endParaRPr lang="zh-CN" altLang="zh-CN" sz="1400" dirty="0"/>
          </a:p>
          <a:p>
            <a:pPr lvl="0">
              <a:lnSpc>
                <a:spcPct val="160000"/>
              </a:lnSpc>
              <a:spcBef>
                <a:spcPts val="0"/>
              </a:spcBef>
            </a:pPr>
            <a:r>
              <a:rPr lang="en-US" altLang="zh-CN" sz="1400" dirty="0"/>
              <a:t>Gary Smith, </a:t>
            </a:r>
            <a:r>
              <a:rPr lang="en-US" altLang="zh-CN" sz="1400" u="sng" dirty="0">
                <a:hlinkClick r:id="rId7"/>
              </a:rPr>
              <a:t>Standard Deviations: Flawed Assumptions, Tortured Data, and Other Ways to Lie with Statistics</a:t>
            </a:r>
            <a:r>
              <a:rPr lang="en-US" altLang="zh-CN" sz="1400" dirty="0"/>
              <a:t>, Overlook Hardcover, 2014.</a:t>
            </a:r>
            <a:endParaRPr lang="zh-CN" altLang="zh-CN" sz="1400" dirty="0"/>
          </a:p>
          <a:p>
            <a:pPr lvl="0">
              <a:lnSpc>
                <a:spcPct val="160000"/>
              </a:lnSpc>
              <a:spcBef>
                <a:spcPts val="0"/>
              </a:spcBef>
            </a:pPr>
            <a:r>
              <a:rPr lang="en-US" altLang="zh-CN" sz="1400" u="sng" dirty="0">
                <a:hlinkClick r:id="rId8"/>
              </a:rPr>
              <a:t>Matthew B. Robinson, Lies, Damned Lies, and Drug War Statistics, </a:t>
            </a:r>
            <a:r>
              <a:rPr lang="en-US" altLang="zh-CN" sz="1400" dirty="0"/>
              <a:t>State University of New York Press, 2nd edition, 2014.</a:t>
            </a:r>
            <a:endParaRPr lang="en-US" altLang="zh-CN" sz="1400" dirty="0"/>
          </a:p>
          <a:p>
            <a:pPr lvl="0">
              <a:lnSpc>
                <a:spcPct val="160000"/>
              </a:lnSpc>
              <a:spcBef>
                <a:spcPts val="0"/>
              </a:spcBef>
            </a:pPr>
            <a:r>
              <a:rPr lang="en-US" altLang="zh-CN" sz="1400" kern="50" dirty="0">
                <a:effectLst/>
                <a:ea typeface="宋体" panose="02010600030101010101" pitchFamily="2" charset="-122"/>
                <a:cs typeface="Times New Roman" panose="02020603050405020304" pitchFamily="18" charset="0"/>
              </a:rPr>
              <a:t>Introduction to Mathematical Statistics. ROBERT V.HOGG</a:t>
            </a:r>
            <a:r>
              <a:rPr lang="ar-SA" altLang="zh-CN" sz="1400" kern="50" dirty="0">
                <a:effectLst/>
                <a:ea typeface="宋体" panose="02010600030101010101" pitchFamily="2" charset="-122"/>
                <a:cs typeface="宋体" panose="02010600030101010101" pitchFamily="2" charset="-122"/>
              </a:rPr>
              <a:t>，</a:t>
            </a:r>
            <a:r>
              <a:rPr lang="en-US" altLang="zh-CN" sz="1400" kern="50" dirty="0">
                <a:effectLst/>
                <a:ea typeface="宋体" panose="02010600030101010101" pitchFamily="2" charset="-122"/>
                <a:cs typeface="Times New Roman" panose="02020603050405020304" pitchFamily="18" charset="0"/>
              </a:rPr>
              <a:t> ALLEN T. CRAIG</a:t>
            </a:r>
            <a:endParaRPr lang="en-US" altLang="zh-CN" sz="1400" kern="100" dirty="0">
              <a:ea typeface="宋体" panose="02010600030101010101" pitchFamily="2" charset="-122"/>
              <a:cs typeface="Times New Roman" panose="02020603050405020304" pitchFamily="18" charset="0"/>
            </a:endParaRPr>
          </a:p>
          <a:p>
            <a:pPr lvl="0">
              <a:lnSpc>
                <a:spcPct val="160000"/>
              </a:lnSpc>
              <a:spcBef>
                <a:spcPts val="0"/>
              </a:spcBef>
            </a:pPr>
            <a:r>
              <a:rPr lang="en-US" altLang="zh-CN" sz="1400" kern="50" dirty="0">
                <a:effectLst/>
                <a:ea typeface="黑体" panose="02010609060101010101" pitchFamily="49" charset="-122"/>
                <a:cs typeface="Times New Roman" panose="02020603050405020304" pitchFamily="18" charset="0"/>
              </a:rPr>
              <a:t>Essentials of Business Statistics. Bowerman, O'Connell, Murphree and Orris. 2015. McGraw-Hill/Irwin.</a:t>
            </a:r>
            <a:r>
              <a:rPr lang="en-US" altLang="zh-CN" sz="1400" kern="50" dirty="0">
                <a:effectLst/>
                <a:ea typeface="宋体" panose="02010600030101010101" pitchFamily="2" charset="-122"/>
                <a:cs typeface="Times New Roman" panose="02020603050405020304" pitchFamily="18" charset="0"/>
              </a:rPr>
              <a:t> </a:t>
            </a:r>
            <a:r>
              <a:rPr lang="en-US" altLang="zh-CN" sz="1400" kern="50" dirty="0">
                <a:effectLst/>
                <a:ea typeface="黑体" panose="02010609060101010101" pitchFamily="49" charset="-122"/>
                <a:cs typeface="Times New Roman" panose="02020603050405020304" pitchFamily="18" charset="0"/>
              </a:rPr>
              <a:t>ISBN10: 0078020530.</a:t>
            </a:r>
            <a:endParaRPr lang="en-US" altLang="zh-CN" sz="1400" kern="100" dirty="0">
              <a:ea typeface="宋体" panose="02010600030101010101" pitchFamily="2" charset="-122"/>
              <a:cs typeface="Times New Roman" panose="02020603050405020304" pitchFamily="18" charset="0"/>
            </a:endParaRPr>
          </a:p>
          <a:p>
            <a:pPr lvl="0">
              <a:lnSpc>
                <a:spcPct val="160000"/>
              </a:lnSpc>
              <a:spcBef>
                <a:spcPts val="0"/>
              </a:spcBef>
            </a:pPr>
            <a:r>
              <a:rPr lang="en-US" altLang="zh-CN" sz="1400" kern="50" dirty="0">
                <a:effectLst/>
                <a:ea typeface="黑体" panose="02010609060101010101" pitchFamily="49" charset="-122"/>
                <a:cs typeface="Times New Roman" panose="02020603050405020304" pitchFamily="18" charset="0"/>
              </a:rPr>
              <a:t>Business Statistics in Practice. Bowerman, O'Connell, Murphree and Orris. McGraw-Hill/Irwin.</a:t>
            </a:r>
            <a:r>
              <a:rPr lang="en-US" altLang="zh-CN" sz="1400" kern="50" dirty="0">
                <a:effectLst/>
                <a:ea typeface="宋体" panose="02010600030101010101" pitchFamily="2" charset="-122"/>
                <a:cs typeface="Times New Roman" panose="02020603050405020304" pitchFamily="18" charset="0"/>
              </a:rPr>
              <a:t> </a:t>
            </a:r>
            <a:r>
              <a:rPr lang="en-US" altLang="zh-CN" sz="1400" kern="50" dirty="0">
                <a:effectLst/>
                <a:ea typeface="黑体" panose="02010609060101010101" pitchFamily="49" charset="-122"/>
                <a:cs typeface="Times New Roman" panose="02020603050405020304" pitchFamily="18" charset="0"/>
              </a:rPr>
              <a:t>ISBN 978-0-07-352149-7.</a:t>
            </a:r>
            <a:endParaRPr lang="zh-CN" altLang="zh-CN" sz="1400" kern="100" dirty="0">
              <a:effectLst/>
              <a:ea typeface="宋体" panose="02010600030101010101" pitchFamily="2" charset="-122"/>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5"/>
          <p:cNvSpPr>
            <a:spLocks noChangeArrowheads="1"/>
          </p:cNvSpPr>
          <p:nvPr/>
        </p:nvSpPr>
        <p:spPr bwMode="auto">
          <a:xfrm>
            <a:off x="1905000" y="6248400"/>
            <a:ext cx="1295400" cy="304800"/>
          </a:xfrm>
          <a:prstGeom prst="rect">
            <a:avLst/>
          </a:prstGeom>
          <a:solidFill>
            <a:schemeClr val="bg1"/>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sp>
        <p:nvSpPr>
          <p:cNvPr id="19459" name="矩形 1"/>
          <p:cNvSpPr>
            <a:spLocks noChangeArrowheads="1"/>
          </p:cNvSpPr>
          <p:nvPr/>
        </p:nvSpPr>
        <p:spPr bwMode="auto">
          <a:xfrm>
            <a:off x="2133600" y="306389"/>
            <a:ext cx="8458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zh-CN" altLang="en-US" sz="2800">
              <a:ea typeface="宋体" panose="02010600030101010101" pitchFamily="2" charset="-122"/>
              <a:cs typeface="Times New Roman" panose="02020603050405020304" pitchFamily="18" charset="0"/>
            </a:endParaRPr>
          </a:p>
        </p:txBody>
      </p:sp>
      <p:pic>
        <p:nvPicPr>
          <p:cNvPr id="19460"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286001" y="2297114"/>
            <a:ext cx="4633913" cy="251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2281239"/>
            <a:ext cx="219075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Rectangle 4"/>
          <p:cNvSpPr>
            <a:spLocks noChangeArrowheads="1"/>
          </p:cNvSpPr>
          <p:nvPr/>
        </p:nvSpPr>
        <p:spPr bwMode="auto">
          <a:xfrm>
            <a:off x="2133600" y="641350"/>
            <a:ext cx="7924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zh-CN" sz="4400">
                <a:ea typeface="宋体" panose="02010600030101010101" pitchFamily="2" charset="-122"/>
              </a:rPr>
              <a:t>The Lady Tasting the tea</a:t>
            </a:r>
            <a:endParaRPr lang="en-US" altLang="zh-CN" sz="4400">
              <a:solidFill>
                <a:srgbClr val="006633"/>
              </a:solidFill>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p:cNvSpPr>
            <a:spLocks noChangeArrowheads="1"/>
          </p:cNvSpPr>
          <p:nvPr/>
        </p:nvSpPr>
        <p:spPr bwMode="auto">
          <a:xfrm>
            <a:off x="1905000" y="6248400"/>
            <a:ext cx="1295400" cy="304800"/>
          </a:xfrm>
          <a:prstGeom prst="rect">
            <a:avLst/>
          </a:prstGeom>
          <a:solidFill>
            <a:schemeClr val="bg1"/>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sp>
        <p:nvSpPr>
          <p:cNvPr id="21507" name="矩形 1"/>
          <p:cNvSpPr>
            <a:spLocks noChangeArrowheads="1"/>
          </p:cNvSpPr>
          <p:nvPr/>
        </p:nvSpPr>
        <p:spPr bwMode="auto">
          <a:xfrm>
            <a:off x="2133600" y="306389"/>
            <a:ext cx="8458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zh-CN" altLang="en-US" sz="2800">
              <a:ea typeface="宋体" panose="02010600030101010101" pitchFamily="2" charset="-122"/>
              <a:cs typeface="Times New Roman" panose="02020603050405020304" pitchFamily="18" charset="0"/>
            </a:endParaRPr>
          </a:p>
        </p:txBody>
      </p:sp>
      <p:pic>
        <p:nvPicPr>
          <p:cNvPr id="21508"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1700214"/>
            <a:ext cx="2743200" cy="437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Rectangle 4"/>
          <p:cNvSpPr>
            <a:spLocks noChangeArrowheads="1"/>
          </p:cNvSpPr>
          <p:nvPr/>
        </p:nvSpPr>
        <p:spPr bwMode="auto">
          <a:xfrm>
            <a:off x="2209800" y="306388"/>
            <a:ext cx="7924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zh-CN" sz="4400">
                <a:ea typeface="宋体" panose="02010600030101010101" pitchFamily="2" charset="-122"/>
              </a:rPr>
              <a:t>Books</a:t>
            </a:r>
            <a:endParaRPr lang="en-US" altLang="zh-CN" sz="4400">
              <a:ea typeface="宋体" panose="02010600030101010101" pitchFamily="2" charset="-122"/>
            </a:endParaRPr>
          </a:p>
        </p:txBody>
      </p:sp>
      <p:pic>
        <p:nvPicPr>
          <p:cNvPr id="21510"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00801" y="1700213"/>
            <a:ext cx="306387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32818" y="545709"/>
            <a:ext cx="7429499" cy="1478570"/>
          </a:xfrm>
        </p:spPr>
        <p:txBody>
          <a:bodyPr/>
          <a:lstStyle/>
          <a:p>
            <a:r>
              <a:rPr lang="en-US" altLang="zh-CN" dirty="0"/>
              <a:t>Reading List</a:t>
            </a:r>
            <a:endParaRPr lang="zh-CN" altLang="en-US" dirty="0"/>
          </a:p>
        </p:txBody>
      </p:sp>
      <p:sp>
        <p:nvSpPr>
          <p:cNvPr id="3" name="内容占位符 2"/>
          <p:cNvSpPr>
            <a:spLocks noGrp="1"/>
          </p:cNvSpPr>
          <p:nvPr>
            <p:ph idx="1"/>
          </p:nvPr>
        </p:nvSpPr>
        <p:spPr>
          <a:xfrm>
            <a:off x="1049826" y="2156500"/>
            <a:ext cx="9966311" cy="3490245"/>
          </a:xfrm>
        </p:spPr>
        <p:txBody>
          <a:bodyPr>
            <a:normAutofit fontScale="85000" lnSpcReduction="10000"/>
          </a:bodyPr>
          <a:lstStyle/>
          <a:p>
            <a:pPr>
              <a:lnSpc>
                <a:spcPct val="170000"/>
              </a:lnSpc>
              <a:spcBef>
                <a:spcPts val="0"/>
              </a:spcBef>
            </a:pPr>
            <a:r>
              <a:rPr lang="en-US" altLang="zh-CN" sz="2400" dirty="0">
                <a:latin typeface="+mn-ea"/>
              </a:rPr>
              <a:t>Darrell Huff (1991)</a:t>
            </a:r>
            <a:r>
              <a:rPr lang="en-US" altLang="zh-CN" sz="2400" dirty="0">
                <a:solidFill>
                  <a:srgbClr val="FF0000"/>
                </a:solidFill>
                <a:latin typeface="+mn-ea"/>
              </a:rPr>
              <a:t> </a:t>
            </a:r>
            <a:r>
              <a:rPr lang="en-US" altLang="zh-CN" sz="2400" i="1" dirty="0">
                <a:solidFill>
                  <a:srgbClr val="FF0000"/>
                </a:solidFill>
                <a:latin typeface="+mn-ea"/>
              </a:rPr>
              <a:t>How to Lie with Statistics</a:t>
            </a:r>
            <a:r>
              <a:rPr lang="zh-CN" altLang="en-US" sz="2400" i="1" dirty="0">
                <a:solidFill>
                  <a:srgbClr val="FF0000"/>
                </a:solidFill>
                <a:latin typeface="+mn-ea"/>
              </a:rPr>
              <a:t> </a:t>
            </a:r>
            <a:r>
              <a:rPr lang="en-US" altLang="zh-CN" sz="2400" dirty="0">
                <a:latin typeface="+mn-ea"/>
              </a:rPr>
              <a:t>New Ed edition, ISBN 0-14-013629-0</a:t>
            </a:r>
            <a:endParaRPr lang="en-US" altLang="zh-CN" sz="2400" dirty="0">
              <a:latin typeface="+mn-ea"/>
            </a:endParaRPr>
          </a:p>
          <a:p>
            <a:pPr>
              <a:lnSpc>
                <a:spcPct val="170000"/>
              </a:lnSpc>
              <a:spcBef>
                <a:spcPts val="0"/>
              </a:spcBef>
            </a:pPr>
            <a:r>
              <a:rPr lang="en-US" altLang="zh-CN" sz="2400" dirty="0">
                <a:latin typeface="+mn-ea"/>
              </a:rPr>
              <a:t>Rao C R. (1997) </a:t>
            </a:r>
            <a:r>
              <a:rPr lang="en-US" altLang="zh-CN" sz="2400" i="1" dirty="0">
                <a:solidFill>
                  <a:srgbClr val="FF0000"/>
                </a:solidFill>
                <a:latin typeface="+mn-ea"/>
              </a:rPr>
              <a:t>Statistics and truth: putting chance to work</a:t>
            </a:r>
            <a:r>
              <a:rPr lang="en-US" altLang="zh-CN" sz="2400" dirty="0">
                <a:latin typeface="+mn-ea"/>
              </a:rPr>
              <a:t> World Scientific.</a:t>
            </a:r>
            <a:endParaRPr lang="en-US" altLang="zh-CN" sz="2400" dirty="0">
              <a:latin typeface="+mn-ea"/>
            </a:endParaRPr>
          </a:p>
          <a:p>
            <a:pPr>
              <a:lnSpc>
                <a:spcPct val="170000"/>
              </a:lnSpc>
              <a:spcBef>
                <a:spcPts val="0"/>
              </a:spcBef>
            </a:pPr>
            <a:r>
              <a:rPr lang="en-US" altLang="zh-CN" sz="2400" dirty="0" err="1">
                <a:latin typeface="+mn-ea"/>
              </a:rPr>
              <a:t>Salsburg</a:t>
            </a:r>
            <a:r>
              <a:rPr lang="en-US" altLang="zh-CN" sz="2400" dirty="0">
                <a:latin typeface="+mn-ea"/>
              </a:rPr>
              <a:t>, D. (2002) </a:t>
            </a:r>
            <a:r>
              <a:rPr lang="en-US" altLang="zh-CN" sz="2400" i="1" dirty="0">
                <a:solidFill>
                  <a:srgbClr val="FF0000"/>
                </a:solidFill>
                <a:latin typeface="+mn-ea"/>
              </a:rPr>
              <a:t>The Lady Tasting Tea: How Statistics Revolutionized Science in the Twentieth Century</a:t>
            </a:r>
            <a:r>
              <a:rPr lang="en-US" altLang="zh-CN" sz="2400" dirty="0">
                <a:latin typeface="+mn-ea"/>
              </a:rPr>
              <a:t>, W.H. Freeman / Owl Book. ISBN 0-8050-7134-2</a:t>
            </a:r>
            <a:endParaRPr lang="en-US" altLang="zh-CN" sz="2400" dirty="0">
              <a:latin typeface="+mn-ea"/>
            </a:endParaRPr>
          </a:p>
          <a:p>
            <a:pPr>
              <a:lnSpc>
                <a:spcPct val="170000"/>
              </a:lnSpc>
              <a:spcBef>
                <a:spcPts val="0"/>
              </a:spcBef>
            </a:pPr>
            <a:r>
              <a:rPr lang="en-US" altLang="zh-CN" sz="2400" dirty="0">
                <a:latin typeface="+mn-ea"/>
              </a:rPr>
              <a:t>Reinhart A. (2015) </a:t>
            </a:r>
            <a:r>
              <a:rPr lang="en-US" altLang="zh-CN" sz="2400" i="1" dirty="0">
                <a:solidFill>
                  <a:srgbClr val="FF0000"/>
                </a:solidFill>
                <a:latin typeface="+mn-ea"/>
              </a:rPr>
              <a:t>Statistics done wrong: The woefully complete guide</a:t>
            </a:r>
            <a:r>
              <a:rPr lang="en-US" altLang="zh-CN" sz="2400" dirty="0">
                <a:solidFill>
                  <a:srgbClr val="FF0000"/>
                </a:solidFill>
                <a:latin typeface="+mn-ea"/>
              </a:rPr>
              <a:t> </a:t>
            </a:r>
            <a:r>
              <a:rPr lang="en-US" altLang="zh-CN" sz="2400" dirty="0">
                <a:latin typeface="+mn-ea"/>
              </a:rPr>
              <a:t>No Starch Press.</a:t>
            </a:r>
            <a:endParaRPr lang="en-US" altLang="zh-CN" sz="2400" dirty="0">
              <a:latin typeface="+mn-ea"/>
            </a:endParaRPr>
          </a:p>
          <a:p>
            <a:pPr>
              <a:lnSpc>
                <a:spcPct val="170000"/>
              </a:lnSpc>
              <a:spcBef>
                <a:spcPts val="0"/>
              </a:spcBef>
            </a:pPr>
            <a:r>
              <a:rPr lang="en-US" altLang="zh-CN" sz="2400" dirty="0">
                <a:latin typeface="+mn-ea"/>
              </a:rPr>
              <a:t>Moore S. and </a:t>
            </a:r>
            <a:r>
              <a:rPr lang="en-US" altLang="zh-CN" sz="2400" dirty="0" err="1">
                <a:latin typeface="+mn-ea"/>
              </a:rPr>
              <a:t>Notz</a:t>
            </a:r>
            <a:r>
              <a:rPr lang="en-US" altLang="zh-CN" sz="2400" dirty="0">
                <a:latin typeface="+mn-ea"/>
              </a:rPr>
              <a:t> W. (2017) </a:t>
            </a:r>
            <a:r>
              <a:rPr lang="en-US" altLang="zh-CN" sz="2400" dirty="0">
                <a:solidFill>
                  <a:srgbClr val="FF0000"/>
                </a:solidFill>
                <a:latin typeface="+mn-ea"/>
              </a:rPr>
              <a:t>Statistics: Concepts and Controversies </a:t>
            </a:r>
            <a:r>
              <a:rPr lang="en-US" altLang="zh-CN" sz="2400" dirty="0">
                <a:latin typeface="+mn-ea"/>
              </a:rPr>
              <a:t>9th Edition.</a:t>
            </a:r>
            <a:endParaRPr lang="zh-CN" altLang="en-US" sz="2400" dirty="0">
              <a:latin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3" name="Rectangle 72"/>
          <p:cNvSpPr>
            <a:spLocks noGrp="1" noRot="1" noChangeAspect="1" noMove="1" noResize="1" noEditPoints="1" noAdjustHandles="1" noChangeArrowheads="1" noChangeShapeType="1" noTextEdit="1"/>
          </p:cNvSpPr>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5" name="Rectangle 74"/>
          <p:cNvSpPr>
            <a:spLocks noGrp="1" noRot="1" noChangeAspect="1" noMove="1" noResize="1" noEditPoints="1" noAdjustHandles="1" noChangeArrowheads="1" noChangeShapeType="1" noTextEdit="1"/>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86" name="Rectangle 2"/>
          <p:cNvSpPr>
            <a:spLocks noGrp="1" noChangeArrowheads="1"/>
          </p:cNvSpPr>
          <p:nvPr>
            <p:ph type="title"/>
          </p:nvPr>
        </p:nvSpPr>
        <p:spPr>
          <a:xfrm>
            <a:off x="1115568" y="548640"/>
            <a:ext cx="10168128" cy="1179576"/>
          </a:xfrm>
        </p:spPr>
        <p:txBody>
          <a:bodyPr vert="horz" lIns="91440" tIns="45720" rIns="91440" bIns="45720" rtlCol="0" anchor="ctr">
            <a:normAutofit/>
          </a:bodyPr>
          <a:lstStyle/>
          <a:p>
            <a:r>
              <a:rPr lang="en-US" altLang="zh-CN" sz="4000" kern="1200" dirty="0">
                <a:solidFill>
                  <a:schemeClr val="tx1"/>
                </a:solidFill>
                <a:latin typeface="+mj-lt"/>
                <a:ea typeface="+mj-ea"/>
                <a:cs typeface="+mj-cs"/>
              </a:rPr>
              <a:t>What is Statistics all about?</a:t>
            </a:r>
            <a:endParaRPr lang="en-US" altLang="zh-CN" sz="4000" kern="1200" dirty="0">
              <a:solidFill>
                <a:schemeClr val="tx1"/>
              </a:solidFill>
              <a:latin typeface="+mj-lt"/>
              <a:ea typeface="+mj-ea"/>
              <a:cs typeface="+mj-cs"/>
            </a:endParaRPr>
          </a:p>
        </p:txBody>
      </p:sp>
      <p:sp>
        <p:nvSpPr>
          <p:cNvPr id="77" name="Rectangle 76"/>
          <p:cNvSpPr>
            <a:spLocks noGrp="1" noRot="1" noChangeAspect="1" noMove="1" noResize="1" noEditPoints="1" noAdjustHandles="1" noChangeArrowheads="1" noChangeShapeType="1" noTextEdit="1"/>
          </p:cNvSpPr>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Rectangle 3"/>
          <p:cNvSpPr txBox="1">
            <a:spLocks noChangeArrowheads="1"/>
          </p:cNvSpPr>
          <p:nvPr/>
        </p:nvSpPr>
        <p:spPr bwMode="auto">
          <a:xfrm>
            <a:off x="1115568" y="2481943"/>
            <a:ext cx="10168128" cy="3695020"/>
          </a:xfrm>
          <a:prstGeom prst="rect">
            <a:avLst/>
          </a:prstGeom>
        </p:spPr>
        <p:txBody>
          <a:bodyPr vert="horz" lIns="91440" tIns="45720" rIns="91440" bIns="45720" rtlCol="0">
            <a:norm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228600" eaLnBrk="1" hangingPunct="1">
              <a:lnSpc>
                <a:spcPct val="150000"/>
              </a:lnSpc>
              <a:spcBef>
                <a:spcPts val="0"/>
              </a:spcBef>
              <a:buFont typeface="Arial" panose="020B0604020202020204" pitchFamily="34" charset="0"/>
              <a:buChar char="•"/>
              <a:defRPr/>
            </a:pPr>
            <a:r>
              <a:rPr lang="en-US" altLang="zh-CN" sz="2200" dirty="0">
                <a:effectLst>
                  <a:outerShdw blurRad="38100" dist="38100" dir="2700000" algn="tl">
                    <a:srgbClr val="C0C0C0"/>
                  </a:outerShdw>
                </a:effectLst>
              </a:rPr>
              <a:t>The subject of </a:t>
            </a:r>
            <a:r>
              <a:rPr lang="en-US" altLang="zh-CN" sz="2200" b="1" dirty="0">
                <a:effectLst>
                  <a:outerShdw blurRad="38100" dist="38100" dir="2700000" algn="tl">
                    <a:srgbClr val="C0C0C0"/>
                  </a:outerShdw>
                </a:effectLst>
              </a:rPr>
              <a:t>statistics</a:t>
            </a:r>
            <a:r>
              <a:rPr lang="en-US" altLang="zh-CN" sz="2200" dirty="0">
                <a:effectLst>
                  <a:outerShdw blurRad="38100" dist="38100" dir="2700000" algn="tl">
                    <a:srgbClr val="C0C0C0"/>
                  </a:outerShdw>
                </a:effectLst>
              </a:rPr>
              <a:t> involves the study of  how to collect, summarize, analyze and interpret data. </a:t>
            </a:r>
            <a:endParaRPr lang="en-US" altLang="zh-CN" sz="2200" dirty="0">
              <a:effectLst>
                <a:outerShdw blurRad="38100" dist="38100" dir="2700000" algn="tl">
                  <a:srgbClr val="C0C0C0"/>
                </a:outerShdw>
              </a:effectLst>
            </a:endParaRPr>
          </a:p>
          <a:p>
            <a:pPr marL="114300" indent="0" eaLnBrk="1" hangingPunct="1">
              <a:lnSpc>
                <a:spcPct val="150000"/>
              </a:lnSpc>
              <a:spcBef>
                <a:spcPts val="0"/>
              </a:spcBef>
              <a:buNone/>
              <a:defRPr/>
            </a:pPr>
            <a:endParaRPr lang="en-US" altLang="zh-CN" sz="2200" dirty="0">
              <a:effectLst>
                <a:outerShdw blurRad="38100" dist="38100" dir="2700000" algn="tl">
                  <a:srgbClr val="C0C0C0"/>
                </a:outerShdw>
              </a:effectLst>
            </a:endParaRPr>
          </a:p>
          <a:p>
            <a:pPr indent="-228600" eaLnBrk="1" hangingPunct="1">
              <a:lnSpc>
                <a:spcPct val="150000"/>
              </a:lnSpc>
              <a:spcBef>
                <a:spcPts val="0"/>
              </a:spcBef>
              <a:buFont typeface="Arial" panose="020B0604020202020204" pitchFamily="34" charset="0"/>
              <a:buChar char="•"/>
              <a:defRPr/>
            </a:pPr>
            <a:r>
              <a:rPr lang="en-US" altLang="zh-CN" sz="2200" b="1" dirty="0"/>
              <a:t>Statistics</a:t>
            </a:r>
            <a:r>
              <a:rPr lang="en-US" altLang="zh-CN" sz="2200" dirty="0"/>
              <a:t> is described as a mathematical body of science that pertains to the collection, analysis, interpretation or explanation, and presentation of data or as a branch of mathematics concerned with collecting and interpreting data.</a:t>
            </a:r>
            <a:r>
              <a:rPr lang="en-US" altLang="zh-CN" sz="2200" dirty="0">
                <a:effectLst>
                  <a:outerShdw blurRad="38100" dist="38100" dir="2700000" algn="tl">
                    <a:srgbClr val="C0C0C0"/>
                  </a:outerShdw>
                </a:effectLst>
              </a:rPr>
              <a:t> </a:t>
            </a:r>
            <a:endParaRPr lang="en-US" altLang="zh-CN" sz="2200" dirty="0">
              <a:effectLst>
                <a:outerShdw blurRad="38100" dist="38100" dir="2700000" algn="tl">
                  <a:srgbClr val="C0C0C0"/>
                </a:outerShdw>
              </a:effectLst>
            </a:endParaRPr>
          </a:p>
        </p:txBody>
      </p:sp>
      <p:sp>
        <p:nvSpPr>
          <p:cNvPr id="16385" name="灯片编号占位符 5"/>
          <p:cNvSpPr>
            <a:spLocks noGrp="1"/>
          </p:cNvSpPr>
          <p:nvPr>
            <p:ph type="sldNum" sz="quarter" idx="12"/>
          </p:nvPr>
        </p:nvSpPr>
        <p:spPr>
          <a:xfrm>
            <a:off x="8540496" y="6356350"/>
            <a:ext cx="2743200" cy="36512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chor="ctr">
            <a:norm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spcAft>
                <a:spcPts val="600"/>
              </a:spcAft>
              <a:buFontTx/>
              <a:buNone/>
            </a:pPr>
            <a:fld id="{E3D4877E-8009-BA47-9825-F7B9731CA9CC}" type="slidenum">
              <a:rPr lang="en-US" altLang="zh-CN" sz="1200">
                <a:solidFill>
                  <a:schemeClr val="tx1">
                    <a:lumMod val="50000"/>
                    <a:lumOff val="50000"/>
                  </a:schemeClr>
                </a:solidFill>
                <a:latin typeface="+mn-lt"/>
                <a:cs typeface="+mn-cs"/>
              </a:rPr>
            </a:fld>
            <a:endParaRPr lang="en-US" altLang="zh-CN" sz="1200">
              <a:solidFill>
                <a:schemeClr val="tx1">
                  <a:lumMod val="50000"/>
                  <a:lumOff val="50000"/>
                </a:schemeClr>
              </a:solidFill>
              <a:latin typeface="+mn-lt"/>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9"/>
          <p:cNvSpPr>
            <a:spLocks noGrp="1" noRot="1" noChangeAspect="1" noMove="1" noResize="1" noEditPoints="1" noAdjustHandles="1" noChangeArrowheads="1" noChangeShapeType="1" noTextEdit="1"/>
          </p:cNvSpPr>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Rectangle 11"/>
          <p:cNvSpPr>
            <a:spLocks noGrp="1" noRot="1" noChangeAspect="1" noMove="1" noResize="1" noEditPoints="1" noAdjustHandles="1" noChangeArrowheads="1" noChangeShapeType="1" noTextEdit="1"/>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1115568" y="548640"/>
            <a:ext cx="10168128" cy="1179576"/>
          </a:xfrm>
        </p:spPr>
        <p:txBody>
          <a:bodyPr>
            <a:normAutofit/>
          </a:bodyPr>
          <a:lstStyle/>
          <a:p>
            <a:r>
              <a:rPr lang="en-US" altLang="zh-CN" sz="4000"/>
              <a:t>What is Statistics all about?</a:t>
            </a:r>
            <a:endParaRPr kumimoji="1" lang="zh-CN" altLang="en-US" sz="4000"/>
          </a:p>
        </p:txBody>
      </p:sp>
      <p:sp>
        <p:nvSpPr>
          <p:cNvPr id="19" name="Rectangle 13"/>
          <p:cNvSpPr>
            <a:spLocks noGrp="1" noRot="1" noChangeAspect="1" noMove="1" noResize="1" noEditPoints="1" noAdjustHandles="1" noChangeArrowheads="1" noChangeShapeType="1" noTextEdit="1"/>
          </p:cNvSpPr>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内容占位符 2"/>
          <p:cNvSpPr>
            <a:spLocks noGrp="1"/>
          </p:cNvSpPr>
          <p:nvPr>
            <p:ph idx="1"/>
          </p:nvPr>
        </p:nvSpPr>
        <p:spPr>
          <a:xfrm>
            <a:off x="1115568" y="2481943"/>
            <a:ext cx="10168128" cy="3695020"/>
          </a:xfrm>
        </p:spPr>
        <p:txBody>
          <a:bodyPr>
            <a:normAutofit/>
          </a:bodyPr>
          <a:lstStyle/>
          <a:p>
            <a:pPr>
              <a:lnSpc>
                <a:spcPct val="150000"/>
              </a:lnSpc>
            </a:pPr>
            <a:r>
              <a:rPr kumimoji="1" lang="en-US" altLang="zh-CN" sz="2200" b="1" dirty="0">
                <a:solidFill>
                  <a:srgbClr val="FF0000"/>
                </a:solidFill>
              </a:rPr>
              <a:t>Data</a:t>
            </a:r>
            <a:r>
              <a:rPr kumimoji="1" lang="en-US" altLang="zh-CN" sz="2200" dirty="0"/>
              <a:t> are numerical facts and figures from which conclusions can be drawn. Such conclusions are important to the decision-making processes of many professions and organizations. </a:t>
            </a:r>
            <a:endParaRPr kumimoji="1" lang="en-US" altLang="zh-CN" sz="2200" dirty="0"/>
          </a:p>
          <a:p>
            <a:pPr>
              <a:lnSpc>
                <a:spcPct val="150000"/>
              </a:lnSpc>
            </a:pPr>
            <a:r>
              <a:rPr kumimoji="1" lang="en-US" altLang="zh-CN" sz="2200" dirty="0"/>
              <a:t>Examples: </a:t>
            </a:r>
            <a:endParaRPr kumimoji="1" lang="en-US" altLang="zh-CN" sz="2200" dirty="0"/>
          </a:p>
          <a:p>
            <a:pPr lvl="1">
              <a:lnSpc>
                <a:spcPct val="150000"/>
              </a:lnSpc>
              <a:buSzPct val="80000"/>
              <a:buFont typeface="Wingdings" panose="05000000000000000000" pitchFamily="2" charset="2"/>
              <a:buChar char="Ø"/>
            </a:pPr>
            <a:r>
              <a:rPr kumimoji="1" lang="en-US" altLang="zh-CN" sz="1800" dirty="0"/>
              <a:t>How many sisters/brothers do you have?</a:t>
            </a:r>
            <a:endParaRPr kumimoji="1" lang="en-US" altLang="zh-CN" sz="1800" dirty="0"/>
          </a:p>
          <a:p>
            <a:pPr lvl="1">
              <a:lnSpc>
                <a:spcPct val="150000"/>
              </a:lnSpc>
              <a:buSzPct val="80000"/>
              <a:buFont typeface="Wingdings" panose="05000000000000000000" pitchFamily="2" charset="2"/>
              <a:buChar char="Ø"/>
            </a:pPr>
            <a:r>
              <a:rPr kumimoji="1" lang="en-US" altLang="zh-CN" sz="1800" dirty="0"/>
              <a:t>How often do you exercise?      ----Never(1); rarely(2); often (3); always (4)</a:t>
            </a:r>
            <a:endParaRPr kumimoji="1" lang="en-US" altLang="zh-CN" sz="1800" dirty="0"/>
          </a:p>
          <a:p>
            <a:pPr lvl="1">
              <a:lnSpc>
                <a:spcPct val="150000"/>
              </a:lnSpc>
              <a:buSzPct val="80000"/>
              <a:buFont typeface="Wingdings" panose="05000000000000000000" pitchFamily="2" charset="2"/>
              <a:buChar char="Ø"/>
            </a:pPr>
            <a:r>
              <a:rPr kumimoji="1" lang="en-US" altLang="zh-CN" sz="1800" dirty="0"/>
              <a:t>How happy are you with your life?    ----Very low (1); Very high (10)</a:t>
            </a:r>
            <a:endParaRPr kumimoji="1" lang="en-US"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3" name="Rectangle 72"/>
          <p:cNvSpPr>
            <a:spLocks noGrp="1" noRot="1" noChangeAspect="1" noMove="1" noResize="1" noEditPoints="1" noAdjustHandles="1" noChangeArrowheads="1" noChangeShapeType="1" noTextEdit="1"/>
          </p:cNvSpPr>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5" name="Rectangle 74"/>
          <p:cNvSpPr>
            <a:spLocks noGrp="1" noRot="1" noChangeAspect="1" noMove="1" noResize="1" noEditPoints="1" noAdjustHandles="1" noChangeArrowheads="1" noChangeShapeType="1" noTextEdit="1"/>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34" name="Rectangle 4"/>
          <p:cNvSpPr>
            <a:spLocks noChangeArrowheads="1"/>
          </p:cNvSpPr>
          <p:nvPr/>
        </p:nvSpPr>
        <p:spPr bwMode="auto">
          <a:xfrm>
            <a:off x="1115568" y="548640"/>
            <a:ext cx="10168128" cy="117957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nSpc>
                <a:spcPct val="90000"/>
              </a:lnSpc>
              <a:spcBef>
                <a:spcPct val="0"/>
              </a:spcBef>
              <a:spcAft>
                <a:spcPts val="600"/>
              </a:spcAft>
              <a:buNone/>
            </a:pPr>
            <a:r>
              <a:rPr lang="en-US" altLang="zh-CN" sz="4000" kern="1200">
                <a:solidFill>
                  <a:schemeClr val="tx1"/>
                </a:solidFill>
                <a:latin typeface="+mj-lt"/>
                <a:ea typeface="+mj-ea"/>
                <a:cs typeface="+mj-cs"/>
              </a:rPr>
              <a:t>Why Study Statistics?</a:t>
            </a:r>
            <a:endParaRPr lang="en-US" altLang="zh-CN" sz="4000" kern="1200">
              <a:solidFill>
                <a:schemeClr val="tx1"/>
              </a:solidFill>
              <a:latin typeface="+mj-lt"/>
              <a:ea typeface="+mj-ea"/>
              <a:cs typeface="+mj-cs"/>
            </a:endParaRPr>
          </a:p>
        </p:txBody>
      </p:sp>
      <p:sp>
        <p:nvSpPr>
          <p:cNvPr id="77" name="Rectangle 76"/>
          <p:cNvSpPr>
            <a:spLocks noGrp="1" noRot="1" noChangeAspect="1" noMove="1" noResize="1" noEditPoints="1" noAdjustHandles="1" noChangeArrowheads="1" noChangeShapeType="1" noTextEdit="1"/>
          </p:cNvSpPr>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Rectangle 3"/>
          <p:cNvSpPr txBox="1">
            <a:spLocks noChangeArrowheads="1"/>
          </p:cNvSpPr>
          <p:nvPr/>
        </p:nvSpPr>
        <p:spPr>
          <a:xfrm>
            <a:off x="1115568" y="2229303"/>
            <a:ext cx="10168128" cy="4591957"/>
          </a:xfrm>
          <a:prstGeom prst="rect">
            <a:avLst/>
          </a:prstGeom>
        </p:spPr>
        <p:txBody>
          <a:bodyPr vert="horz" lIns="91440" tIns="45720" rIns="91440" bIns="45720" rtlCol="0">
            <a:normAutofit lnSpcReduction="10000"/>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228600" eaLnBrk="1" hangingPunct="1">
              <a:lnSpc>
                <a:spcPct val="150000"/>
              </a:lnSpc>
              <a:spcBef>
                <a:spcPts val="0"/>
              </a:spcBef>
              <a:buFont typeface="Arial" panose="020B0604020202020204" pitchFamily="34" charset="0"/>
              <a:buChar char="•"/>
              <a:defRPr/>
            </a:pPr>
            <a:r>
              <a:rPr lang="en-US" altLang="zh-CN" sz="2000" dirty="0"/>
              <a:t>Generally, make “decision”</a:t>
            </a:r>
            <a:endParaRPr lang="en-US" altLang="zh-CN" sz="2000" dirty="0"/>
          </a:p>
          <a:p>
            <a:pPr indent="-228600" eaLnBrk="1" hangingPunct="1">
              <a:lnSpc>
                <a:spcPct val="150000"/>
              </a:lnSpc>
              <a:spcBef>
                <a:spcPts val="0"/>
              </a:spcBef>
              <a:buFont typeface="Arial" panose="020B0604020202020204" pitchFamily="34" charset="0"/>
              <a:buChar char="•"/>
              <a:defRPr/>
            </a:pPr>
            <a:r>
              <a:rPr lang="en-US" altLang="zh-CN" sz="2000" dirty="0"/>
              <a:t>Statistical techniques are used to make decisions that affect our daily lives (without knowing it)</a:t>
            </a:r>
            <a:endParaRPr lang="en-US" altLang="zh-CN" sz="2000" dirty="0"/>
          </a:p>
          <a:p>
            <a:pPr marL="1257300" lvl="2" indent="-342900" eaLnBrk="1" hangingPunct="1">
              <a:lnSpc>
                <a:spcPct val="150000"/>
              </a:lnSpc>
              <a:spcBef>
                <a:spcPts val="0"/>
              </a:spcBef>
              <a:buFont typeface="Wingdings" panose="05000000000000000000" pitchFamily="2" charset="2"/>
              <a:buChar char="Ø"/>
              <a:defRPr/>
            </a:pPr>
            <a:r>
              <a:rPr lang="en-US" altLang="zh-CN" sz="1600" dirty="0"/>
              <a:t>Choose the university</a:t>
            </a:r>
            <a:endParaRPr lang="en-US" altLang="zh-CN" sz="1600" dirty="0"/>
          </a:p>
          <a:p>
            <a:pPr marL="1257300" lvl="2" indent="-342900" eaLnBrk="1" hangingPunct="1">
              <a:lnSpc>
                <a:spcPct val="150000"/>
              </a:lnSpc>
              <a:spcBef>
                <a:spcPts val="0"/>
              </a:spcBef>
              <a:buFont typeface="Wingdings" panose="05000000000000000000" pitchFamily="2" charset="2"/>
              <a:buChar char="Ø"/>
              <a:defRPr/>
            </a:pPr>
            <a:r>
              <a:rPr lang="en-US" altLang="zh-CN" sz="1600" dirty="0"/>
              <a:t>To buy a car or a house</a:t>
            </a:r>
            <a:endParaRPr lang="en-US" altLang="zh-CN" sz="1600" dirty="0"/>
          </a:p>
          <a:p>
            <a:pPr marL="1257300" lvl="2" indent="-342900" eaLnBrk="1" hangingPunct="1">
              <a:lnSpc>
                <a:spcPct val="150000"/>
              </a:lnSpc>
              <a:spcBef>
                <a:spcPts val="0"/>
              </a:spcBef>
              <a:buFont typeface="Wingdings" panose="05000000000000000000" pitchFamily="2" charset="2"/>
              <a:buChar char="Ø"/>
              <a:defRPr/>
            </a:pPr>
            <a:r>
              <a:rPr lang="en-US" altLang="zh-CN" sz="1600" dirty="0"/>
              <a:t>Choose common stock from the stock markets</a:t>
            </a:r>
            <a:endParaRPr lang="en-US" altLang="zh-CN" sz="1600" dirty="0"/>
          </a:p>
          <a:p>
            <a:pPr indent="-228600" eaLnBrk="1" hangingPunct="1">
              <a:lnSpc>
                <a:spcPct val="150000"/>
              </a:lnSpc>
              <a:spcBef>
                <a:spcPts val="0"/>
              </a:spcBef>
              <a:buFont typeface="Arial" panose="020B0604020202020204" pitchFamily="34" charset="0"/>
              <a:buChar char="•"/>
              <a:defRPr/>
            </a:pPr>
            <a:r>
              <a:rPr lang="en-US" altLang="zh-CN" sz="2000" dirty="0"/>
              <a:t>Numerical information is everywhere</a:t>
            </a:r>
            <a:endParaRPr lang="en-US" altLang="zh-CN" sz="2000" dirty="0"/>
          </a:p>
          <a:p>
            <a:pPr indent="-228600" eaLnBrk="1" hangingPunct="1">
              <a:lnSpc>
                <a:spcPct val="150000"/>
              </a:lnSpc>
              <a:spcBef>
                <a:spcPts val="0"/>
              </a:spcBef>
              <a:buFont typeface="Arial" panose="020B0604020202020204" pitchFamily="34" charset="0"/>
              <a:buChar char="•"/>
              <a:defRPr/>
            </a:pPr>
            <a:r>
              <a:rPr lang="en-US" altLang="zh-CN" sz="2000" dirty="0"/>
              <a:t>No matter what your career, you will make professional decisions that involve data</a:t>
            </a:r>
            <a:endParaRPr lang="en-US" altLang="zh-CN" sz="2000" dirty="0"/>
          </a:p>
          <a:p>
            <a:pPr indent="-228600" eaLnBrk="1" hangingPunct="1">
              <a:lnSpc>
                <a:spcPct val="150000"/>
              </a:lnSpc>
              <a:spcBef>
                <a:spcPts val="0"/>
              </a:spcBef>
              <a:buFont typeface="Arial" panose="020B0604020202020204" pitchFamily="34" charset="0"/>
              <a:buChar char="•"/>
              <a:defRPr/>
            </a:pPr>
            <a:r>
              <a:rPr lang="en-US" altLang="zh-CN" sz="2000" dirty="0"/>
              <a:t>Joy of Statistics </a:t>
            </a:r>
            <a:r>
              <a:rPr lang="en-US" altLang="zh-CN" sz="2000" dirty="0">
                <a:hlinkClick r:id="rId1"/>
              </a:rPr>
              <a:t>https://www.bilibili.com/video/BV1TJ411y7Mp?from=search&amp;seid=1904466107273049131</a:t>
            </a:r>
            <a:endParaRPr lang="en-US" altLang="zh-CN" sz="2000" dirty="0"/>
          </a:p>
        </p:txBody>
      </p:sp>
      <p:sp>
        <p:nvSpPr>
          <p:cNvPr id="18433" name="灯片编号占位符 4"/>
          <p:cNvSpPr>
            <a:spLocks noGrp="1"/>
          </p:cNvSpPr>
          <p:nvPr>
            <p:ph type="sldNum" sz="quarter" idx="12"/>
          </p:nvPr>
        </p:nvSpPr>
        <p:spPr>
          <a:xfrm>
            <a:off x="8540496" y="6356350"/>
            <a:ext cx="2743200" cy="36512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chor="ctr">
            <a:norm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spcAft>
                <a:spcPts val="600"/>
              </a:spcAft>
              <a:buFontTx/>
              <a:buNone/>
            </a:pPr>
            <a:fld id="{4CF2D46C-A308-0F43-B0B1-DD80A60BC374}" type="slidenum">
              <a:rPr lang="en-US" altLang="zh-CN" sz="1200">
                <a:solidFill>
                  <a:schemeClr val="tx1">
                    <a:lumMod val="50000"/>
                    <a:lumOff val="50000"/>
                  </a:schemeClr>
                </a:solidFill>
                <a:latin typeface="+mn-lt"/>
                <a:cs typeface="+mn-cs"/>
              </a:rPr>
            </a:fld>
            <a:endParaRPr lang="en-US" altLang="zh-CN" sz="1200">
              <a:solidFill>
                <a:schemeClr val="tx1">
                  <a:lumMod val="50000"/>
                  <a:lumOff val="50000"/>
                </a:schemeClr>
              </a:solidFill>
              <a:latin typeface="+mn-lt"/>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a:spLocks noGrp="1" noRot="1" noChangeAspect="1" noMove="1" noResize="1" noEditPoints="1" noAdjustHandles="1" noChangeArrowheads="1" noChangeShapeType="1" noTextEdit="1"/>
          </p:cNvSpPr>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p:cNvSpPr>
            <a:spLocks noGrp="1" noRot="1" noChangeAspect="1" noMove="1" noResize="1" noEditPoints="1" noAdjustHandles="1" noChangeArrowheads="1" noChangeShapeType="1" noTextEdit="1"/>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1115568" y="548640"/>
            <a:ext cx="10168128" cy="1179576"/>
          </a:xfrm>
        </p:spPr>
        <p:txBody>
          <a:bodyPr>
            <a:normAutofit/>
          </a:bodyPr>
          <a:lstStyle/>
          <a:p>
            <a:r>
              <a:rPr kumimoji="1" lang="en-US" altLang="zh-CN" sz="4000" dirty="0"/>
              <a:t>Statistics </a:t>
            </a:r>
            <a:endParaRPr kumimoji="1" lang="zh-CN" altLang="en-US" sz="4000" dirty="0"/>
          </a:p>
        </p:txBody>
      </p:sp>
      <p:sp>
        <p:nvSpPr>
          <p:cNvPr id="14" name="Rectangle 13"/>
          <p:cNvSpPr>
            <a:spLocks noGrp="1" noRot="1" noChangeAspect="1" noMove="1" noResize="1" noEditPoints="1" noAdjustHandles="1" noChangeArrowheads="1" noChangeShapeType="1" noTextEdit="1"/>
          </p:cNvSpPr>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内容占位符 2"/>
          <p:cNvSpPr>
            <a:spLocks noGrp="1"/>
          </p:cNvSpPr>
          <p:nvPr>
            <p:ph idx="1"/>
          </p:nvPr>
        </p:nvSpPr>
        <p:spPr>
          <a:xfrm>
            <a:off x="1115568" y="2481943"/>
            <a:ext cx="10168128" cy="3695020"/>
          </a:xfrm>
        </p:spPr>
        <p:txBody>
          <a:bodyPr>
            <a:normAutofit/>
          </a:bodyPr>
          <a:lstStyle/>
          <a:p>
            <a:pPr lvl="1">
              <a:lnSpc>
                <a:spcPct val="150000"/>
              </a:lnSpc>
              <a:spcBef>
                <a:spcPts val="0"/>
              </a:spcBef>
            </a:pPr>
            <a:r>
              <a:rPr lang="en-US" altLang="zh-TW" sz="2200" b="1" dirty="0">
                <a:ea typeface="PMingLiU" panose="02020500000000000000" pitchFamily="18" charset="-120"/>
              </a:rPr>
              <a:t>Statistics is the art of learning from data</a:t>
            </a:r>
            <a:endParaRPr lang="en-US" altLang="zh-TW" sz="2200" b="1" dirty="0">
              <a:ea typeface="PMingLiU" panose="02020500000000000000" pitchFamily="18" charset="-120"/>
            </a:endParaRPr>
          </a:p>
          <a:p>
            <a:pPr lvl="1">
              <a:lnSpc>
                <a:spcPct val="150000"/>
              </a:lnSpc>
              <a:spcBef>
                <a:spcPts val="0"/>
              </a:spcBef>
            </a:pPr>
            <a:endParaRPr lang="en-US" altLang="zh-TW" sz="2200" b="1" dirty="0">
              <a:ea typeface="PMingLiU" panose="02020500000000000000" pitchFamily="18" charset="-120"/>
            </a:endParaRPr>
          </a:p>
          <a:p>
            <a:pPr lvl="1">
              <a:lnSpc>
                <a:spcPct val="150000"/>
              </a:lnSpc>
              <a:spcBef>
                <a:spcPts val="0"/>
              </a:spcBef>
            </a:pPr>
            <a:r>
              <a:rPr lang="en-US" altLang="zh-TW" sz="2200" dirty="0">
                <a:ea typeface="PMingLiU" panose="02020500000000000000" pitchFamily="18" charset="-120"/>
              </a:rPr>
              <a:t>Statistics is concerned with </a:t>
            </a:r>
            <a:endParaRPr lang="en-US" altLang="zh-TW" sz="2200" dirty="0">
              <a:ea typeface="PMingLiU" panose="02020500000000000000" pitchFamily="18" charset="-120"/>
            </a:endParaRPr>
          </a:p>
          <a:p>
            <a:pPr lvl="2">
              <a:lnSpc>
                <a:spcPct val="150000"/>
              </a:lnSpc>
              <a:spcBef>
                <a:spcPts val="0"/>
              </a:spcBef>
              <a:buFont typeface="Wingdings" panose="05000000000000000000" pitchFamily="2" charset="2"/>
              <a:buChar char="Ø"/>
            </a:pPr>
            <a:r>
              <a:rPr lang="en-US" altLang="zh-TW" sz="1800" dirty="0">
                <a:ea typeface="PMingLiU" panose="02020500000000000000" pitchFamily="18" charset="-120"/>
              </a:rPr>
              <a:t>the collection of data</a:t>
            </a:r>
            <a:endParaRPr lang="en-US" altLang="zh-TW" sz="1800" dirty="0">
              <a:ea typeface="PMingLiU" panose="02020500000000000000" pitchFamily="18" charset="-120"/>
            </a:endParaRPr>
          </a:p>
          <a:p>
            <a:pPr lvl="2">
              <a:lnSpc>
                <a:spcPct val="150000"/>
              </a:lnSpc>
              <a:spcBef>
                <a:spcPts val="0"/>
              </a:spcBef>
              <a:buFont typeface="Wingdings" panose="05000000000000000000" pitchFamily="2" charset="2"/>
              <a:buChar char="Ø"/>
            </a:pPr>
            <a:r>
              <a:rPr lang="en-US" altLang="zh-TW" sz="1800" dirty="0">
                <a:ea typeface="PMingLiU" panose="02020500000000000000" pitchFamily="18" charset="-120"/>
              </a:rPr>
              <a:t>their description or sum</a:t>
            </a:r>
            <a:endParaRPr lang="en-US" altLang="zh-TW" sz="1800" dirty="0">
              <a:ea typeface="PMingLiU" panose="02020500000000000000" pitchFamily="18" charset="-120"/>
            </a:endParaRPr>
          </a:p>
          <a:p>
            <a:pPr lvl="2">
              <a:lnSpc>
                <a:spcPct val="150000"/>
              </a:lnSpc>
              <a:spcBef>
                <a:spcPts val="0"/>
              </a:spcBef>
              <a:buFont typeface="Wingdings" panose="05000000000000000000" pitchFamily="2" charset="2"/>
              <a:buChar char="Ø"/>
            </a:pPr>
            <a:r>
              <a:rPr lang="en-US" altLang="zh-TW" sz="1800" dirty="0">
                <a:ea typeface="PMingLiU" panose="02020500000000000000" pitchFamily="18" charset="-120"/>
              </a:rPr>
              <a:t>their analysis, which often leads to the drawing of conclusions (interpretation)</a:t>
            </a:r>
            <a:endParaRPr lang="zh-TW" altLang="en-US" sz="1800" dirty="0">
              <a:ea typeface="PMingLiU" panose="02020500000000000000" pitchFamily="18" charset="-120"/>
            </a:endParaRPr>
          </a:p>
          <a:p>
            <a:endParaRPr kumimoji="1" lang="zh-CN" alt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0737" y="1124744"/>
            <a:ext cx="9326014" cy="3464591"/>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ormAutofit fontScale="70000" lnSpcReduction="20000"/>
          </a:bodyPr>
          <a:lstStyle/>
          <a:p>
            <a:pPr marL="0" indent="0">
              <a:lnSpc>
                <a:spcPct val="170000"/>
              </a:lnSpc>
              <a:spcBef>
                <a:spcPts val="0"/>
              </a:spcBef>
              <a:buNone/>
            </a:pPr>
            <a:r>
              <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rPr>
              <a:t>Example</a:t>
            </a:r>
            <a:endPar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70000"/>
              </a:lnSpc>
              <a:spcBef>
                <a:spcPts val="0"/>
              </a:spcBef>
              <a:buNone/>
            </a:pPr>
            <a:r>
              <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rPr>
              <a:t>    A survey is conducted among 50 people, asking them: “Which one of the following is your favorite, Orange juice(O), Apple juice(A), Coca Cola(C), Pepsi(P) or Coconut Juice (L) ? ”</a:t>
            </a:r>
            <a:endPar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70000"/>
              </a:lnSpc>
              <a:spcBef>
                <a:spcPts val="0"/>
              </a:spcBef>
              <a:buNone/>
            </a:pPr>
            <a:r>
              <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rPr>
              <a:t>Data collected are</a:t>
            </a:r>
            <a:endPar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buNone/>
            </a:pPr>
            <a:endPar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buNone/>
            </a:pPr>
            <a:r>
              <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rPr>
              <a:t>O, A, C, A, C, P, C, A, C, C, C, A, L, O, C, P, A, O, L, P, L, O, C, L, P, O, O, C, A, L, C, L, L, C, C, L, C, L, P, O, C, A, P, A, C, C, L, L, C, P</a:t>
            </a:r>
            <a:endParaRPr lang="zh-CN" alt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 name="文本框 1"/>
          <p:cNvSpPr txBox="1"/>
          <p:nvPr/>
        </p:nvSpPr>
        <p:spPr>
          <a:xfrm>
            <a:off x="970737" y="5118905"/>
            <a:ext cx="6336704" cy="369332"/>
          </a:xfrm>
          <a:prstGeom prst="rect">
            <a:avLst/>
          </a:prstGeom>
          <a:noFill/>
        </p:spPr>
        <p:txBody>
          <a:bodyPr wrap="square" rtlCol="0">
            <a:spAutoFit/>
          </a:bodyPr>
          <a:lstStyle/>
          <a:p>
            <a:r>
              <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rPr>
              <a:t>Question: Which one is the most popular?</a:t>
            </a:r>
            <a:endParaRPr lang="zh-CN" alt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2387588" y="1124744"/>
          <a:ext cx="7416824" cy="4680526"/>
        </p:xfrm>
        <a:graphic>
          <a:graphicData uri="http://schemas.openxmlformats.org/drawingml/2006/table">
            <a:tbl>
              <a:tblPr>
                <a:tableStyleId>{D7AC3CCA-C797-4891-BE02-D94E43425B78}</a:tableStyleId>
              </a:tblPr>
              <a:tblGrid>
                <a:gridCol w="2429278"/>
                <a:gridCol w="2687255"/>
                <a:gridCol w="2300291"/>
              </a:tblGrid>
              <a:tr h="1018238">
                <a:tc gridSpan="3">
                  <a:txBody>
                    <a:bodyPr/>
                    <a:lstStyle/>
                    <a:p>
                      <a:pPr algn="ctr" fontAlgn="b"/>
                      <a:r>
                        <a:rPr lang="en-US" sz="2400" u="none" strike="noStrike" dirty="0">
                          <a:effectLst/>
                        </a:rPr>
                        <a:t>Table: Frequency and percentage of favorite drink</a:t>
                      </a:r>
                      <a:endParaRPr lang="en-US" sz="2400" b="0" i="0" u="none" strike="noStrike" dirty="0">
                        <a:solidFill>
                          <a:srgbClr val="000000"/>
                        </a:solidFill>
                        <a:effectLst/>
                        <a:latin typeface="宋体" panose="02010600030101010101" pitchFamily="2" charset="-122"/>
                      </a:endParaRPr>
                    </a:p>
                  </a:txBody>
                  <a:tcPr marL="9525" marR="9525" marT="9525" marB="0" anchor="b"/>
                </a:tc>
                <a:tc hMerge="1">
                  <a:tcPr/>
                </a:tc>
                <a:tc hMerge="1">
                  <a:tcPr/>
                </a:tc>
              </a:tr>
              <a:tr h="523184">
                <a:tc>
                  <a:txBody>
                    <a:bodyPr/>
                    <a:lstStyle/>
                    <a:p>
                      <a:pPr algn="l" fontAlgn="b"/>
                      <a:r>
                        <a:rPr lang="en-US" sz="2400" u="none" strike="noStrike" dirty="0">
                          <a:effectLst/>
                        </a:rPr>
                        <a:t>Drink</a:t>
                      </a:r>
                      <a:endParaRPr lang="en-US" sz="2400" b="0" i="0" u="none" strike="noStrike" dirty="0">
                        <a:solidFill>
                          <a:srgbClr val="000000"/>
                        </a:solidFill>
                        <a:effectLst/>
                        <a:latin typeface="宋体" panose="02010600030101010101" pitchFamily="2" charset="-122"/>
                      </a:endParaRPr>
                    </a:p>
                  </a:txBody>
                  <a:tcPr marL="9525" marR="9525" marT="9525" marB="0" anchor="b"/>
                </a:tc>
                <a:tc>
                  <a:txBody>
                    <a:bodyPr/>
                    <a:lstStyle/>
                    <a:p>
                      <a:pPr algn="l" fontAlgn="b"/>
                      <a:r>
                        <a:rPr lang="en-US" sz="2400" u="none" strike="noStrike" dirty="0">
                          <a:effectLst/>
                        </a:rPr>
                        <a:t>Frequency</a:t>
                      </a:r>
                      <a:endParaRPr lang="en-US" sz="2400" b="0" i="0" u="none" strike="noStrike" dirty="0">
                        <a:solidFill>
                          <a:srgbClr val="000000"/>
                        </a:solidFill>
                        <a:effectLst/>
                        <a:latin typeface="宋体" panose="02010600030101010101" pitchFamily="2" charset="-122"/>
                      </a:endParaRPr>
                    </a:p>
                  </a:txBody>
                  <a:tcPr marL="9525" marR="9525" marT="9525" marB="0" anchor="b"/>
                </a:tc>
                <a:tc>
                  <a:txBody>
                    <a:bodyPr/>
                    <a:lstStyle/>
                    <a:p>
                      <a:pPr algn="l" fontAlgn="b"/>
                      <a:r>
                        <a:rPr lang="en-US" sz="2400" u="none" strike="noStrike">
                          <a:effectLst/>
                        </a:rPr>
                        <a:t>Percentage</a:t>
                      </a:r>
                      <a:endParaRPr lang="en-US" sz="2400" b="0" i="0" u="none" strike="noStrike">
                        <a:solidFill>
                          <a:srgbClr val="000000"/>
                        </a:solidFill>
                        <a:effectLst/>
                        <a:latin typeface="宋体" panose="02010600030101010101" pitchFamily="2" charset="-122"/>
                      </a:endParaRPr>
                    </a:p>
                  </a:txBody>
                  <a:tcPr marL="9525" marR="9525" marT="9525" marB="0" anchor="b"/>
                </a:tc>
              </a:tr>
              <a:tr h="523184">
                <a:tc>
                  <a:txBody>
                    <a:bodyPr/>
                    <a:lstStyle/>
                    <a:p>
                      <a:pPr algn="l" fontAlgn="b"/>
                      <a:r>
                        <a:rPr lang="en-US" sz="2400" u="none" strike="noStrike">
                          <a:effectLst/>
                        </a:rPr>
                        <a:t>Orange Juice</a:t>
                      </a:r>
                      <a:endParaRPr lang="en-US" sz="2400" b="0" i="0" u="none" strike="noStrike">
                        <a:solidFill>
                          <a:srgbClr val="000000"/>
                        </a:solidFill>
                        <a:effectLst/>
                        <a:latin typeface="宋体" panose="02010600030101010101" pitchFamily="2" charset="-122"/>
                      </a:endParaRPr>
                    </a:p>
                  </a:txBody>
                  <a:tcPr marL="9525" marR="9525" marT="9525" marB="0" anchor="b"/>
                </a:tc>
                <a:tc>
                  <a:txBody>
                    <a:bodyPr/>
                    <a:lstStyle/>
                    <a:p>
                      <a:pPr algn="l" fontAlgn="b"/>
                      <a:r>
                        <a:rPr lang="en-US" altLang="zh-CN" sz="2400" u="none" strike="noStrike">
                          <a:effectLst/>
                        </a:rPr>
                        <a:t>7</a:t>
                      </a:r>
                      <a:endParaRPr lang="en-US" altLang="zh-CN" sz="2400" b="0" i="0" u="none" strike="noStrike">
                        <a:solidFill>
                          <a:srgbClr val="000000"/>
                        </a:solidFill>
                        <a:effectLst/>
                        <a:latin typeface="宋体" panose="02010600030101010101" pitchFamily="2" charset="-122"/>
                      </a:endParaRPr>
                    </a:p>
                  </a:txBody>
                  <a:tcPr marL="9525" marR="9525" marT="9525" marB="0" anchor="b"/>
                </a:tc>
                <a:tc>
                  <a:txBody>
                    <a:bodyPr/>
                    <a:lstStyle/>
                    <a:p>
                      <a:pPr algn="l" fontAlgn="b"/>
                      <a:r>
                        <a:rPr lang="en-US" altLang="zh-CN" sz="2400" u="none" strike="noStrike">
                          <a:effectLst/>
                        </a:rPr>
                        <a:t>14</a:t>
                      </a:r>
                      <a:endParaRPr lang="en-US" altLang="zh-CN" sz="2400" b="0" i="0" u="none" strike="noStrike">
                        <a:solidFill>
                          <a:srgbClr val="000000"/>
                        </a:solidFill>
                        <a:effectLst/>
                        <a:latin typeface="宋体" panose="02010600030101010101" pitchFamily="2" charset="-122"/>
                      </a:endParaRPr>
                    </a:p>
                  </a:txBody>
                  <a:tcPr marL="9525" marR="9525" marT="9525" marB="0" anchor="b"/>
                </a:tc>
              </a:tr>
              <a:tr h="523184">
                <a:tc>
                  <a:txBody>
                    <a:bodyPr/>
                    <a:lstStyle/>
                    <a:p>
                      <a:pPr algn="l" fontAlgn="b"/>
                      <a:r>
                        <a:rPr lang="en-US" sz="2400" u="none" strike="noStrike">
                          <a:effectLst/>
                        </a:rPr>
                        <a:t>Apple Juice</a:t>
                      </a:r>
                      <a:endParaRPr lang="en-US" sz="2400" b="0" i="0" u="none" strike="noStrike">
                        <a:solidFill>
                          <a:srgbClr val="000000"/>
                        </a:solidFill>
                        <a:effectLst/>
                        <a:latin typeface="宋体" panose="02010600030101010101" pitchFamily="2" charset="-122"/>
                      </a:endParaRPr>
                    </a:p>
                  </a:txBody>
                  <a:tcPr marL="9525" marR="9525" marT="9525" marB="0" anchor="b"/>
                </a:tc>
                <a:tc>
                  <a:txBody>
                    <a:bodyPr/>
                    <a:lstStyle/>
                    <a:p>
                      <a:pPr algn="l" fontAlgn="b"/>
                      <a:r>
                        <a:rPr lang="en-US" altLang="zh-CN" sz="2400" u="none" strike="noStrike">
                          <a:effectLst/>
                        </a:rPr>
                        <a:t>8</a:t>
                      </a:r>
                      <a:endParaRPr lang="en-US" altLang="zh-CN" sz="2400" b="0" i="0" u="none" strike="noStrike">
                        <a:solidFill>
                          <a:srgbClr val="000000"/>
                        </a:solidFill>
                        <a:effectLst/>
                        <a:latin typeface="宋体" panose="02010600030101010101" pitchFamily="2" charset="-122"/>
                      </a:endParaRPr>
                    </a:p>
                  </a:txBody>
                  <a:tcPr marL="9525" marR="9525" marT="9525" marB="0" anchor="b"/>
                </a:tc>
                <a:tc>
                  <a:txBody>
                    <a:bodyPr/>
                    <a:lstStyle/>
                    <a:p>
                      <a:pPr algn="l" fontAlgn="b"/>
                      <a:r>
                        <a:rPr lang="en-US" altLang="zh-CN" sz="2400" u="none" strike="noStrike">
                          <a:effectLst/>
                        </a:rPr>
                        <a:t>16</a:t>
                      </a:r>
                      <a:endParaRPr lang="en-US" altLang="zh-CN" sz="2400" b="0" i="0" u="none" strike="noStrike">
                        <a:solidFill>
                          <a:srgbClr val="000000"/>
                        </a:solidFill>
                        <a:effectLst/>
                        <a:latin typeface="宋体" panose="02010600030101010101" pitchFamily="2" charset="-122"/>
                      </a:endParaRPr>
                    </a:p>
                  </a:txBody>
                  <a:tcPr marL="9525" marR="9525" marT="9525" marB="0" anchor="b"/>
                </a:tc>
              </a:tr>
              <a:tr h="523184">
                <a:tc>
                  <a:txBody>
                    <a:bodyPr/>
                    <a:lstStyle/>
                    <a:p>
                      <a:pPr algn="l" fontAlgn="b"/>
                      <a:r>
                        <a:rPr lang="en-US" sz="2400" u="none" strike="noStrike">
                          <a:effectLst/>
                        </a:rPr>
                        <a:t>Coca Cola</a:t>
                      </a:r>
                      <a:endParaRPr lang="en-US" sz="2400" b="0" i="0" u="none" strike="noStrike">
                        <a:solidFill>
                          <a:srgbClr val="000000"/>
                        </a:solidFill>
                        <a:effectLst/>
                        <a:latin typeface="宋体" panose="02010600030101010101" pitchFamily="2" charset="-122"/>
                      </a:endParaRPr>
                    </a:p>
                  </a:txBody>
                  <a:tcPr marL="9525" marR="9525" marT="9525" marB="0" anchor="b"/>
                </a:tc>
                <a:tc>
                  <a:txBody>
                    <a:bodyPr/>
                    <a:lstStyle/>
                    <a:p>
                      <a:pPr algn="l" fontAlgn="b"/>
                      <a:r>
                        <a:rPr lang="en-US" altLang="zh-CN" sz="2400" u="none" strike="noStrike">
                          <a:effectLst/>
                        </a:rPr>
                        <a:t>17</a:t>
                      </a:r>
                      <a:endParaRPr lang="en-US" altLang="zh-CN" sz="2400" b="0" i="0" u="none" strike="noStrike">
                        <a:solidFill>
                          <a:srgbClr val="000000"/>
                        </a:solidFill>
                        <a:effectLst/>
                        <a:latin typeface="宋体" panose="02010600030101010101" pitchFamily="2" charset="-122"/>
                      </a:endParaRPr>
                    </a:p>
                  </a:txBody>
                  <a:tcPr marL="9525" marR="9525" marT="9525" marB="0" anchor="b"/>
                </a:tc>
                <a:tc>
                  <a:txBody>
                    <a:bodyPr/>
                    <a:lstStyle/>
                    <a:p>
                      <a:pPr algn="l" fontAlgn="b"/>
                      <a:r>
                        <a:rPr lang="en-US" altLang="zh-CN" sz="2400" u="none" strike="noStrike">
                          <a:effectLst/>
                        </a:rPr>
                        <a:t>34</a:t>
                      </a:r>
                      <a:endParaRPr lang="en-US" altLang="zh-CN" sz="2400" b="0" i="0" u="none" strike="noStrike">
                        <a:solidFill>
                          <a:srgbClr val="000000"/>
                        </a:solidFill>
                        <a:effectLst/>
                        <a:latin typeface="宋体" panose="02010600030101010101" pitchFamily="2" charset="-122"/>
                      </a:endParaRPr>
                    </a:p>
                  </a:txBody>
                  <a:tcPr marL="9525" marR="9525" marT="9525" marB="0" anchor="b"/>
                </a:tc>
              </a:tr>
              <a:tr h="523184">
                <a:tc>
                  <a:txBody>
                    <a:bodyPr/>
                    <a:lstStyle/>
                    <a:p>
                      <a:pPr algn="l" fontAlgn="b"/>
                      <a:r>
                        <a:rPr lang="en-US" sz="2400" u="none" strike="noStrike" dirty="0">
                          <a:effectLst/>
                        </a:rPr>
                        <a:t>Pepsi</a:t>
                      </a:r>
                      <a:endParaRPr lang="en-US" sz="2400" b="0" i="0" u="none" strike="noStrike" dirty="0">
                        <a:solidFill>
                          <a:srgbClr val="000000"/>
                        </a:solidFill>
                        <a:effectLst/>
                        <a:latin typeface="宋体" panose="02010600030101010101" pitchFamily="2" charset="-122"/>
                      </a:endParaRPr>
                    </a:p>
                  </a:txBody>
                  <a:tcPr marL="9525" marR="9525" marT="9525" marB="0" anchor="b"/>
                </a:tc>
                <a:tc>
                  <a:txBody>
                    <a:bodyPr/>
                    <a:lstStyle/>
                    <a:p>
                      <a:pPr algn="l" fontAlgn="b"/>
                      <a:r>
                        <a:rPr lang="en-US" altLang="zh-CN" sz="2400" u="none" strike="noStrike">
                          <a:effectLst/>
                        </a:rPr>
                        <a:t>7</a:t>
                      </a:r>
                      <a:endParaRPr lang="en-US" altLang="zh-CN" sz="2400" b="0" i="0" u="none" strike="noStrike">
                        <a:solidFill>
                          <a:srgbClr val="000000"/>
                        </a:solidFill>
                        <a:effectLst/>
                        <a:latin typeface="宋体" panose="02010600030101010101" pitchFamily="2" charset="-122"/>
                      </a:endParaRPr>
                    </a:p>
                  </a:txBody>
                  <a:tcPr marL="9525" marR="9525" marT="9525" marB="0" anchor="b"/>
                </a:tc>
                <a:tc>
                  <a:txBody>
                    <a:bodyPr/>
                    <a:lstStyle/>
                    <a:p>
                      <a:pPr algn="l" fontAlgn="b"/>
                      <a:r>
                        <a:rPr lang="en-US" altLang="zh-CN" sz="2400" u="none" strike="noStrike" dirty="0">
                          <a:effectLst/>
                        </a:rPr>
                        <a:t>14</a:t>
                      </a:r>
                      <a:endParaRPr lang="en-US" altLang="zh-CN" sz="2400" b="0" i="0" u="none" strike="noStrike" dirty="0">
                        <a:solidFill>
                          <a:srgbClr val="000000"/>
                        </a:solidFill>
                        <a:effectLst/>
                        <a:latin typeface="宋体" panose="02010600030101010101" pitchFamily="2" charset="-122"/>
                      </a:endParaRPr>
                    </a:p>
                  </a:txBody>
                  <a:tcPr marL="9525" marR="9525" marT="9525" marB="0" anchor="b"/>
                </a:tc>
              </a:tr>
              <a:tr h="523184">
                <a:tc>
                  <a:txBody>
                    <a:bodyPr/>
                    <a:lstStyle/>
                    <a:p>
                      <a:pPr algn="l" fontAlgn="b"/>
                      <a:r>
                        <a:rPr lang="en-US" altLang="zh-CN" sz="2400" u="none" strike="noStrike" dirty="0">
                          <a:effectLst/>
                        </a:rPr>
                        <a:t>Coconut Juice</a:t>
                      </a:r>
                      <a:endParaRPr lang="en-US" sz="2400" b="0" i="0" u="none" strike="noStrike" dirty="0">
                        <a:solidFill>
                          <a:srgbClr val="000000"/>
                        </a:solidFill>
                        <a:effectLst/>
                        <a:latin typeface="宋体" panose="02010600030101010101" pitchFamily="2" charset="-122"/>
                      </a:endParaRPr>
                    </a:p>
                  </a:txBody>
                  <a:tcPr marL="9525" marR="9525" marT="9525" marB="0" anchor="b"/>
                </a:tc>
                <a:tc>
                  <a:txBody>
                    <a:bodyPr/>
                    <a:lstStyle/>
                    <a:p>
                      <a:pPr algn="l" fontAlgn="b"/>
                      <a:r>
                        <a:rPr lang="en-US" altLang="zh-CN" sz="2400" u="none" strike="noStrike" dirty="0">
                          <a:effectLst/>
                        </a:rPr>
                        <a:t>11</a:t>
                      </a:r>
                      <a:endParaRPr lang="en-US" altLang="zh-CN" sz="2400" b="0" i="0" u="none" strike="noStrike" dirty="0">
                        <a:solidFill>
                          <a:srgbClr val="000000"/>
                        </a:solidFill>
                        <a:effectLst/>
                        <a:latin typeface="宋体" panose="02010600030101010101" pitchFamily="2" charset="-122"/>
                      </a:endParaRPr>
                    </a:p>
                  </a:txBody>
                  <a:tcPr marL="9525" marR="9525" marT="9525" marB="0" anchor="b"/>
                </a:tc>
                <a:tc>
                  <a:txBody>
                    <a:bodyPr/>
                    <a:lstStyle/>
                    <a:p>
                      <a:pPr algn="l" fontAlgn="b"/>
                      <a:r>
                        <a:rPr lang="en-US" altLang="zh-CN" sz="2400" u="none" strike="noStrike" dirty="0">
                          <a:effectLst/>
                        </a:rPr>
                        <a:t>22</a:t>
                      </a:r>
                      <a:endParaRPr lang="en-US" altLang="zh-CN" sz="2400" b="0" i="0" u="none" strike="noStrike" dirty="0">
                        <a:solidFill>
                          <a:srgbClr val="000000"/>
                        </a:solidFill>
                        <a:effectLst/>
                        <a:latin typeface="宋体" panose="02010600030101010101" pitchFamily="2" charset="-122"/>
                      </a:endParaRPr>
                    </a:p>
                  </a:txBody>
                  <a:tcPr marL="9525" marR="9525" marT="9525" marB="0" anchor="b"/>
                </a:tc>
              </a:tr>
              <a:tr h="523184">
                <a:tc>
                  <a:txBody>
                    <a:bodyPr/>
                    <a:lstStyle/>
                    <a:p>
                      <a:pPr algn="l" fontAlgn="b"/>
                      <a:r>
                        <a:rPr lang="en-US" sz="2400" u="none" strike="noStrike" dirty="0">
                          <a:effectLst/>
                        </a:rPr>
                        <a:t>Total</a:t>
                      </a:r>
                      <a:endParaRPr lang="en-US" sz="2400" b="0" i="0" u="none" strike="noStrike" dirty="0">
                        <a:solidFill>
                          <a:srgbClr val="000000"/>
                        </a:solidFill>
                        <a:effectLst/>
                        <a:latin typeface="宋体" panose="02010600030101010101" pitchFamily="2" charset="-122"/>
                      </a:endParaRPr>
                    </a:p>
                  </a:txBody>
                  <a:tcPr marL="9525" marR="9525" marT="9525" marB="0" anchor="b"/>
                </a:tc>
                <a:tc>
                  <a:txBody>
                    <a:bodyPr/>
                    <a:lstStyle/>
                    <a:p>
                      <a:pPr algn="l" fontAlgn="b"/>
                      <a:r>
                        <a:rPr lang="en-US" altLang="zh-CN" sz="2400" u="none" strike="noStrike" dirty="0">
                          <a:effectLst/>
                        </a:rPr>
                        <a:t>50</a:t>
                      </a:r>
                      <a:endParaRPr lang="en-US" altLang="zh-CN" sz="2400" b="0" i="0" u="none" strike="noStrike" dirty="0">
                        <a:solidFill>
                          <a:srgbClr val="000000"/>
                        </a:solidFill>
                        <a:effectLst/>
                        <a:latin typeface="宋体" panose="02010600030101010101" pitchFamily="2" charset="-122"/>
                      </a:endParaRPr>
                    </a:p>
                  </a:txBody>
                  <a:tcPr marL="9525" marR="9525" marT="9525" marB="0" anchor="b"/>
                </a:tc>
                <a:tc>
                  <a:txBody>
                    <a:bodyPr/>
                    <a:lstStyle/>
                    <a:p>
                      <a:pPr algn="l" fontAlgn="b"/>
                      <a:r>
                        <a:rPr lang="en-US" altLang="zh-CN" sz="2400" u="none" strike="noStrike" dirty="0">
                          <a:effectLst/>
                        </a:rPr>
                        <a:t>100</a:t>
                      </a:r>
                      <a:endParaRPr lang="en-US" altLang="zh-CN" sz="2400" b="0" i="0" u="none" strike="noStrike" dirty="0">
                        <a:solidFill>
                          <a:srgbClr val="000000"/>
                        </a:solidFill>
                        <a:effectLst/>
                        <a:latin typeface="宋体" panose="02010600030101010101" pitchFamily="2" charset="-122"/>
                      </a:endParaRPr>
                    </a:p>
                  </a:txBody>
                  <a:tcPr marL="9525" marR="9525" marT="9525" marB="0" anchor="b"/>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p:cNvGraphicFramePr/>
          <p:nvPr/>
        </p:nvGraphicFramePr>
        <p:xfrm>
          <a:off x="2531994" y="764704"/>
          <a:ext cx="7632848" cy="5472608"/>
        </p:xfrm>
        <a:graphic>
          <a:graphicData uri="http://schemas.openxmlformats.org/drawingml/2006/chart">
            <c:chart xmlns:c="http://schemas.openxmlformats.org/drawingml/2006/chart" xmlns:r="http://schemas.openxmlformats.org/officeDocument/2006/relationships" r:id="rId1"/>
          </a:graphicData>
        </a:graphic>
      </p:graphicFrame>
      <p:sp>
        <p:nvSpPr>
          <p:cNvPr id="2" name="文本框 1"/>
          <p:cNvSpPr txBox="1"/>
          <p:nvPr/>
        </p:nvSpPr>
        <p:spPr>
          <a:xfrm>
            <a:off x="7497171" y="5527291"/>
            <a:ext cx="1023582" cy="646331"/>
          </a:xfrm>
          <a:prstGeom prst="rect">
            <a:avLst/>
          </a:prstGeom>
          <a:solidFill>
            <a:schemeClr val="bg1"/>
          </a:solidFill>
        </p:spPr>
        <p:txBody>
          <a:bodyPr wrap="square" rtlCol="0">
            <a:spAutoFit/>
          </a:bodyPr>
          <a:lstStyle/>
          <a:p>
            <a:r>
              <a:rPr lang="en-US" altLang="zh-CN" dirty="0"/>
              <a:t>Coconut Juice</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p:cNvGraphicFramePr/>
          <p:nvPr/>
        </p:nvGraphicFramePr>
        <p:xfrm>
          <a:off x="2999656" y="620688"/>
          <a:ext cx="6840760" cy="5256584"/>
        </p:xfrm>
        <a:graphic>
          <a:graphicData uri="http://schemas.openxmlformats.org/drawingml/2006/chart">
            <c:chart xmlns:c="http://schemas.openxmlformats.org/drawingml/2006/chart" xmlns:r="http://schemas.openxmlformats.org/officeDocument/2006/relationships" r:id="rId1"/>
          </a:graphicData>
        </a:graphic>
      </p:graphicFrame>
      <p:sp>
        <p:nvSpPr>
          <p:cNvPr id="2" name="文本框 1"/>
          <p:cNvSpPr txBox="1"/>
          <p:nvPr/>
        </p:nvSpPr>
        <p:spPr>
          <a:xfrm>
            <a:off x="8184108" y="4453667"/>
            <a:ext cx="1701420" cy="369332"/>
          </a:xfrm>
          <a:prstGeom prst="rect">
            <a:avLst/>
          </a:prstGeom>
          <a:solidFill>
            <a:schemeClr val="bg1"/>
          </a:solidFill>
        </p:spPr>
        <p:txBody>
          <a:bodyPr wrap="square" rtlCol="0">
            <a:spAutoFit/>
          </a:bodyPr>
          <a:lstStyle/>
          <a:p>
            <a:r>
              <a:rPr lang="en-US" altLang="zh-CN" dirty="0"/>
              <a:t>Coconut Juice</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Example: Fisher’s Tea Taster</a:t>
            </a:r>
            <a:endParaRPr lang="zh-CN" altLang="en-US" dirty="0"/>
          </a:p>
        </p:txBody>
      </p:sp>
      <p:sp>
        <p:nvSpPr>
          <p:cNvPr id="9" name="内容占位符 8"/>
          <p:cNvSpPr>
            <a:spLocks noGrp="1"/>
          </p:cNvSpPr>
          <p:nvPr>
            <p:ph idx="1"/>
          </p:nvPr>
        </p:nvSpPr>
        <p:spPr/>
        <p:txBody>
          <a:bodyPr>
            <a:normAutofit/>
          </a:bodyPr>
          <a:lstStyle/>
          <a:p>
            <a:pPr algn="just"/>
            <a:r>
              <a:rPr lang="en-US" altLang="zh-CN" dirty="0"/>
              <a:t>When drinking tea, a colleague of Fisher’s at </a:t>
            </a:r>
            <a:r>
              <a:rPr lang="en-US" altLang="zh-CN" dirty="0" err="1"/>
              <a:t>Rothamsted</a:t>
            </a:r>
            <a:r>
              <a:rPr lang="en-US" altLang="zh-CN" dirty="0"/>
              <a:t> Experiment Station near London claimed </a:t>
            </a:r>
            <a:r>
              <a:rPr lang="en-US" altLang="zh-CN" i="1" u="sng" dirty="0"/>
              <a:t>she could distinguish whether milk or tea was added to the cup first</a:t>
            </a:r>
            <a:r>
              <a:rPr lang="en-US" altLang="zh-CN" dirty="0"/>
              <a:t>. To test her claim, Fisher designed an experiment in which she tasted eight cups of tea.</a:t>
            </a:r>
            <a:endParaRPr lang="en-US" altLang="zh-CN" dirty="0"/>
          </a:p>
          <a:p>
            <a:pPr algn="just"/>
            <a:endParaRPr lang="en-US" altLang="zh-CN" dirty="0"/>
          </a:p>
          <a:p>
            <a:pPr algn="just"/>
            <a:r>
              <a:rPr lang="en-US" altLang="zh-CN" dirty="0"/>
              <a:t>Four cups had milk added first, and the other four had tea added first. She was told there were four cups of each type and she should try to select the four that had milk added first. The cups were presented to her in random order.</a:t>
            </a:r>
            <a:endParaRPr lang="en-US" altLang="zh-CN" dirty="0"/>
          </a:p>
          <a:p>
            <a:pPr marL="0" indent="0">
              <a:buNone/>
            </a:pPr>
            <a:endParaRPr lang="zh-CN" altLang="en-US" dirty="0"/>
          </a:p>
        </p:txBody>
      </p:sp>
      <p:grpSp>
        <p:nvGrpSpPr>
          <p:cNvPr id="3" name="Group 2"/>
          <p:cNvGrpSpPr/>
          <p:nvPr/>
        </p:nvGrpSpPr>
        <p:grpSpPr>
          <a:xfrm>
            <a:off x="2207568" y="1844866"/>
            <a:ext cx="7776864" cy="4464495"/>
            <a:chOff x="251520" y="1700808"/>
            <a:chExt cx="7776864" cy="4464495"/>
          </a:xfrm>
        </p:grpSpPr>
        <p:sp>
          <p:nvSpPr>
            <p:cNvPr id="5" name="内容占位符 2"/>
            <p:cNvSpPr txBox="1"/>
            <p:nvPr/>
          </p:nvSpPr>
          <p:spPr>
            <a:xfrm>
              <a:off x="251520" y="1700808"/>
              <a:ext cx="7776864" cy="4464495"/>
            </a:xfrm>
            <a:prstGeom prst="rect">
              <a:avLst/>
            </a:prstGeom>
            <a:ln w="127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2">
              <a:schemeClr val="accent2"/>
            </a:fillRef>
            <a:effectRef idx="1">
              <a:schemeClr val="accent2"/>
            </a:effectRef>
            <a:fontRef idx="minor">
              <a:schemeClr val="dk1"/>
            </a:fontRef>
          </p:style>
          <p:txBody>
            <a:bodyPr vert="horz">
              <a:normAutofit/>
            </a:bodyPr>
            <a:lstStyle>
              <a:lvl1pPr marL="274320" indent="-274320" algn="l" rtl="0" eaLnBrk="1" latinLnBrk="0" hangingPunct="1">
                <a:spcBef>
                  <a:spcPts val="600"/>
                </a:spcBef>
                <a:buClr>
                  <a:schemeClr val="accent1"/>
                </a:buClr>
                <a:buSzPct val="70000"/>
                <a:buFont typeface="Wingdings" panose="05000000000000000000"/>
                <a:buChar char=""/>
                <a:defRPr kumimoji="0" sz="2400" kern="1200">
                  <a:solidFill>
                    <a:schemeClr val="dk1"/>
                  </a:solidFill>
                  <a:latin typeface="+mn-lt"/>
                  <a:ea typeface="+mn-ea"/>
                  <a:cs typeface="+mn-cs"/>
                </a:defRPr>
              </a:lvl1pPr>
              <a:lvl2pPr marL="640080" indent="-274320" algn="l" rtl="0" eaLnBrk="1" latinLnBrk="0" hangingPunct="1">
                <a:spcBef>
                  <a:spcPct val="20000"/>
                </a:spcBef>
                <a:buClr>
                  <a:schemeClr val="accent1"/>
                </a:buClr>
                <a:buSzPct val="80000"/>
                <a:buFont typeface="Wingdings 2" panose="05020102010507070707"/>
                <a:buChar char=""/>
                <a:defRPr kumimoji="0" sz="2100" kern="1200">
                  <a:solidFill>
                    <a:schemeClr val="dk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panose="05000000000000000000"/>
                <a:buChar char=""/>
                <a:defRPr kumimoji="0" sz="1800" kern="1200">
                  <a:solidFill>
                    <a:schemeClr val="dk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panose="05000000000000000000"/>
                <a:buChar char=""/>
                <a:defRPr kumimoji="0" sz="1800" kern="1200">
                  <a:solidFill>
                    <a:schemeClr val="dk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panose="05020102010507070707"/>
                <a:buChar char=""/>
                <a:defRPr kumimoji="0" sz="1600" kern="1200">
                  <a:solidFill>
                    <a:schemeClr val="dk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dk1"/>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dk1"/>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dk1"/>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dk1"/>
                  </a:solidFill>
                  <a:latin typeface="+mn-lt"/>
                  <a:ea typeface="+mn-ea"/>
                  <a:cs typeface="+mn-cs"/>
                </a:defRPr>
              </a:lvl9pPr>
            </a:lstStyle>
            <a:p>
              <a:pPr marL="0" indent="0">
                <a:buClr>
                  <a:srgbClr val="B83D68"/>
                </a:buClr>
                <a:buNone/>
              </a:pPr>
              <a:endParaRPr lang="zh-CN" altLang="en-US" dirty="0">
                <a:solidFill>
                  <a:prstClr val="black"/>
                </a:solidFill>
              </a:endParaRPr>
            </a:p>
          </p:txBody>
        </p:sp>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8790" y="2636912"/>
              <a:ext cx="7425578"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a:xfrm>
            <a:off x="1339850" y="694055"/>
            <a:ext cx="3989705" cy="1646555"/>
          </a:xfrm>
        </p:spPr>
        <p:txBody>
          <a:bodyPr vert="horz" lIns="0" tIns="46800" rIns="90000" bIns="46800" rtlCol="0" anchor="t" anchorCtr="0">
            <a:normAutofit fontScale="90000"/>
          </a:bodyPr>
          <a:lstStyle/>
          <a:p>
            <a:pPr lvl="0" algn="l">
              <a:buClrTx/>
              <a:buSzTx/>
              <a:buFontTx/>
            </a:pPr>
            <a:r>
              <a:rPr lang="en-US" altLang="en-US" sz="4200">
                <a:solidFill>
                  <a:schemeClr val="accent1"/>
                </a:solidFill>
                <a:sym typeface="+mn-ea"/>
              </a:rPr>
              <a:t>Example: Aspirin and Heart Attacks</a:t>
            </a:r>
            <a:endParaRPr lang="en-US" altLang="en-US" sz="4200">
              <a:solidFill>
                <a:schemeClr val="accent1"/>
              </a:solidFill>
              <a:sym typeface="+mn-ea"/>
            </a:endParaRPr>
          </a:p>
        </p:txBody>
      </p:sp>
      <p:pic>
        <p:nvPicPr>
          <p:cNvPr id="30" name="图片 29" descr="7965772"/>
          <p:cNvPicPr>
            <a:picLocks noChangeAspect="1"/>
          </p:cNvPicPr>
          <p:nvPr>
            <p:custDataLst>
              <p:tags r:id="rId2"/>
            </p:custDataLst>
          </p:nvPr>
        </p:nvPicPr>
        <p:blipFill>
          <a:blip r:embed="rId3"/>
          <a:srcRect/>
          <a:stretch>
            <a:fillRect/>
          </a:stretch>
        </p:blipFill>
        <p:spPr>
          <a:xfrm>
            <a:off x="6216015" y="694055"/>
            <a:ext cx="5476875" cy="1862455"/>
          </a:xfrm>
          <a:prstGeom prst="rect">
            <a:avLst/>
          </a:prstGeom>
          <a:solidFill>
            <a:schemeClr val="accent1"/>
          </a:solidFill>
          <a:ln w="6350" cap="flat" cmpd="sng" algn="ctr">
            <a:solidFill>
              <a:schemeClr val="tx1">
                <a:lumMod val="40000"/>
                <a:lumOff val="60000"/>
                <a:alpha val="20000"/>
              </a:schemeClr>
            </a:solidFill>
            <a:prstDash val="solid"/>
            <a:round/>
            <a:headEnd type="none" w="med" len="med"/>
            <a:tailEnd type="none" w="med" len="med"/>
          </a:ln>
        </p:spPr>
      </p:pic>
      <p:pic>
        <p:nvPicPr>
          <p:cNvPr id="61" name="图片 60" descr="7805612"/>
          <p:cNvPicPr>
            <a:picLocks noChangeAspect="1"/>
          </p:cNvPicPr>
          <p:nvPr>
            <p:custDataLst>
              <p:tags r:id="rId4"/>
            </p:custDataLst>
          </p:nvPr>
        </p:nvPicPr>
        <p:blipFill>
          <a:blip r:embed="rId5"/>
          <a:srcRect l="28043" r="28043"/>
          <a:stretch>
            <a:fillRect/>
          </a:stretch>
        </p:blipFill>
        <p:spPr>
          <a:xfrm>
            <a:off x="9019540" y="2633345"/>
            <a:ext cx="2673350" cy="3693160"/>
          </a:xfrm>
          <a:prstGeom prst="rect">
            <a:avLst/>
          </a:prstGeom>
          <a:solidFill>
            <a:schemeClr val="accent1"/>
          </a:solidFill>
          <a:ln w="6350" cap="flat" cmpd="sng" algn="ctr">
            <a:solidFill>
              <a:schemeClr val="tx1">
                <a:lumMod val="40000"/>
                <a:lumOff val="60000"/>
                <a:alpha val="20000"/>
              </a:schemeClr>
            </a:solidFill>
            <a:prstDash val="solid"/>
            <a:round/>
            <a:headEnd type="none" w="med" len="med"/>
            <a:tailEnd type="none" w="med" len="med"/>
          </a:ln>
          <a:effectLst/>
        </p:spPr>
      </p:pic>
      <p:pic>
        <p:nvPicPr>
          <p:cNvPr id="55" name="图片 54" descr="7832098"/>
          <p:cNvPicPr>
            <a:picLocks noChangeAspect="1"/>
          </p:cNvPicPr>
          <p:nvPr>
            <p:custDataLst>
              <p:tags r:id="rId6"/>
            </p:custDataLst>
          </p:nvPr>
        </p:nvPicPr>
        <p:blipFill>
          <a:blip r:embed="rId7"/>
          <a:srcRect l="21452" r="21452"/>
          <a:stretch>
            <a:fillRect/>
          </a:stretch>
        </p:blipFill>
        <p:spPr>
          <a:xfrm>
            <a:off x="6216015" y="2641600"/>
            <a:ext cx="2705735" cy="3691890"/>
          </a:xfrm>
          <a:prstGeom prst="rect">
            <a:avLst/>
          </a:prstGeom>
          <a:solidFill>
            <a:schemeClr val="accent1"/>
          </a:solidFill>
          <a:ln w="6350" cap="flat" cmpd="sng" algn="ctr">
            <a:solidFill>
              <a:schemeClr val="tx1">
                <a:lumMod val="40000"/>
                <a:lumOff val="60000"/>
                <a:alpha val="20000"/>
              </a:schemeClr>
            </a:solidFill>
            <a:prstDash val="solid"/>
            <a:round/>
            <a:headEnd type="none" w="med" len="med"/>
            <a:tailEnd type="none" w="med" len="med"/>
          </a:ln>
          <a:effectLst/>
        </p:spPr>
      </p:pic>
      <p:sp>
        <p:nvSpPr>
          <p:cNvPr id="4" name="正文"/>
          <p:cNvSpPr txBox="1"/>
          <p:nvPr>
            <p:custDataLst>
              <p:tags r:id="rId8"/>
            </p:custDataLst>
          </p:nvPr>
        </p:nvSpPr>
        <p:spPr>
          <a:xfrm>
            <a:off x="1339850" y="2842260"/>
            <a:ext cx="3989705" cy="3237865"/>
          </a:xfrm>
          <a:prstGeom prst="rect">
            <a:avLst/>
          </a:prstGeom>
          <a:noFill/>
        </p:spPr>
        <p:txBody>
          <a:bodyPr wrap="square" lIns="0" tIns="0" rIns="0" bIns="0" rtlCol="0" anchor="t" anchorCtr="0">
            <a:normAutofit/>
          </a:bodyPr>
          <a:lstStyle/>
          <a:p>
            <a:pPr marL="0" indent="0">
              <a:lnSpc>
                <a:spcPct val="150000"/>
              </a:lnSpc>
              <a:buNone/>
            </a:pPr>
            <a:r>
              <a:rPr lang="en-US" altLang="en-US" sz="1300" spc="150" dirty="0">
                <a:solidFill>
                  <a:schemeClr val="tx1">
                    <a:lumMod val="85000"/>
                    <a:lumOff val="15000"/>
                  </a:schemeClr>
                </a:solidFill>
                <a:latin typeface="+mn-ea"/>
                <a:sym typeface="+mn-ea"/>
              </a:rPr>
              <a:t>?</a:t>
            </a:r>
            <a:endParaRPr lang="en-US" altLang="en-US" sz="1300" spc="150" dirty="0">
              <a:solidFill>
                <a:schemeClr val="tx1">
                  <a:lumMod val="85000"/>
                  <a:lumOff val="15000"/>
                </a:schemeClr>
              </a:solidFill>
              <a:latin typeface="+mn-ea"/>
              <a:sym typeface="+mn-ea"/>
            </a:endParaRPr>
          </a:p>
        </p:txBody>
      </p:sp>
      <p:sp>
        <p:nvSpPr>
          <p:cNvPr id="5" name="矩形 4"/>
          <p:cNvSpPr/>
          <p:nvPr>
            <p:custDataLst>
              <p:tags r:id="rId9"/>
            </p:custDataLst>
          </p:nvPr>
        </p:nvSpPr>
        <p:spPr>
          <a:xfrm>
            <a:off x="5932805" y="6249035"/>
            <a:ext cx="95250" cy="9525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p:cNvSpPr/>
          <p:nvPr>
            <p:custDataLst>
              <p:tags r:id="rId10"/>
            </p:custDataLst>
          </p:nvPr>
        </p:nvSpPr>
        <p:spPr>
          <a:xfrm>
            <a:off x="5932805" y="6032500"/>
            <a:ext cx="95250" cy="95250"/>
          </a:xfrm>
          <a:prstGeom prst="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p:cNvSpPr/>
          <p:nvPr>
            <p:custDataLst>
              <p:tags r:id="rId11"/>
            </p:custDataLst>
          </p:nvPr>
        </p:nvSpPr>
        <p:spPr>
          <a:xfrm>
            <a:off x="5932805" y="5815965"/>
            <a:ext cx="95250" cy="95250"/>
          </a:xfrm>
          <a:prstGeom prst="rect">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矩形 11"/>
          <p:cNvSpPr/>
          <p:nvPr>
            <p:custDataLst>
              <p:tags r:id="rId12"/>
            </p:custDataLst>
          </p:nvPr>
        </p:nvSpPr>
        <p:spPr>
          <a:xfrm>
            <a:off x="5932805" y="5599430"/>
            <a:ext cx="95250" cy="95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3" name="矩形 52"/>
          <p:cNvSpPr/>
          <p:nvPr>
            <p:custDataLst>
              <p:tags r:id="rId13"/>
            </p:custDataLst>
          </p:nvPr>
        </p:nvSpPr>
        <p:spPr>
          <a:xfrm>
            <a:off x="1339850" y="2461895"/>
            <a:ext cx="648970" cy="946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71755" rIns="71755" bIns="36195" rtlCol="0" anchor="ctr"/>
          <a:lstStyle/>
          <a:p>
            <a:pPr algn="l"/>
            <a:endParaRPr lang="en-US" altLang="zh-CN" sz="1600" b="1">
              <a:latin typeface="+mj-ea"/>
              <a:ea typeface="+mj-ea"/>
            </a:endParaRPr>
          </a:p>
        </p:txBody>
      </p:sp>
    </p:spTree>
    <p:custDataLst>
      <p:tags r:id="rId14"/>
    </p:custData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Example: Aspirin and Heart Attacks</a:t>
            </a:r>
            <a:endParaRPr lang="zh-CN" altLang="en-US" dirty="0"/>
          </a:p>
        </p:txBody>
      </p:sp>
      <p:sp>
        <p:nvSpPr>
          <p:cNvPr id="3" name="Content Placeholder 2"/>
          <p:cNvSpPr>
            <a:spLocks noGrp="1"/>
          </p:cNvSpPr>
          <p:nvPr>
            <p:ph idx="1"/>
          </p:nvPr>
        </p:nvSpPr>
        <p:spPr>
          <a:xfrm>
            <a:off x="981609" y="1609416"/>
            <a:ext cx="10032134" cy="4846320"/>
          </a:xfrm>
        </p:spPr>
        <p:txBody>
          <a:bodyPr>
            <a:normAutofit lnSpcReduction="10000"/>
          </a:bodyPr>
          <a:lstStyle/>
          <a:p>
            <a:pPr algn="just">
              <a:lnSpc>
                <a:spcPct val="150000"/>
              </a:lnSpc>
              <a:spcBef>
                <a:spcPts val="0"/>
              </a:spcBef>
            </a:pPr>
            <a:r>
              <a:rPr lang="en-US" altLang="zh-CN" dirty="0"/>
              <a:t> </a:t>
            </a:r>
            <a:r>
              <a:rPr lang="en-US" altLang="zh-CN" sz="2400" dirty="0"/>
              <a:t>Table 2.3 is from a report on the relationship between aspirin use and myocardial infarction (heart attacks) by the Physicians’ Health Study Research Group at Harvard Medical School.</a:t>
            </a:r>
            <a:endParaRPr lang="en-US" altLang="zh-CN" sz="2400" dirty="0"/>
          </a:p>
          <a:p>
            <a:pPr algn="just">
              <a:lnSpc>
                <a:spcPct val="150000"/>
              </a:lnSpc>
              <a:spcBef>
                <a:spcPts val="0"/>
              </a:spcBef>
            </a:pPr>
            <a:r>
              <a:rPr lang="en-US" altLang="zh-CN" sz="2400" dirty="0"/>
              <a:t> The Physicians’ Health Study was a five-year randomized study </a:t>
            </a:r>
            <a:r>
              <a:rPr lang="en-US" altLang="zh-CN" sz="2400" i="1" u="sng" dirty="0"/>
              <a:t>testing whether regular intake of aspirin reduces mortality from cardiovascular disease.</a:t>
            </a:r>
            <a:endParaRPr lang="en-US" altLang="zh-CN" sz="2400" i="1" u="sng" dirty="0"/>
          </a:p>
          <a:p>
            <a:pPr algn="just">
              <a:lnSpc>
                <a:spcPct val="150000"/>
              </a:lnSpc>
              <a:spcBef>
                <a:spcPts val="0"/>
              </a:spcBef>
            </a:pPr>
            <a:r>
              <a:rPr lang="en-US" altLang="zh-CN" sz="2400" dirty="0"/>
              <a:t> Every other day, the male physicians participating in the study took either one aspirin tablet or a placebo. The study was “blind”- the physicians in the study did not know which type of pill they were taking.</a:t>
            </a:r>
            <a:endParaRPr lang="zh-CN" altLang="en-US" sz="2400" dirty="0"/>
          </a:p>
        </p:txBody>
      </p:sp>
      <p:grpSp>
        <p:nvGrpSpPr>
          <p:cNvPr id="7" name="组合 6"/>
          <p:cNvGrpSpPr/>
          <p:nvPr/>
        </p:nvGrpSpPr>
        <p:grpSpPr>
          <a:xfrm>
            <a:off x="1984059" y="2294716"/>
            <a:ext cx="7643192" cy="3556992"/>
            <a:chOff x="323528" y="2969552"/>
            <a:chExt cx="7643192" cy="3556992"/>
          </a:xfrm>
        </p:grpSpPr>
        <p:sp>
          <p:nvSpPr>
            <p:cNvPr id="5" name="内容占位符 2"/>
            <p:cNvSpPr txBox="1"/>
            <p:nvPr/>
          </p:nvSpPr>
          <p:spPr>
            <a:xfrm>
              <a:off x="323528" y="2969552"/>
              <a:ext cx="7643192" cy="3556992"/>
            </a:xfrm>
            <a:prstGeom prst="rect">
              <a:avLst/>
            </a:prstGeom>
            <a:ln w="127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2">
              <a:schemeClr val="accent2"/>
            </a:fillRef>
            <a:effectRef idx="1">
              <a:schemeClr val="accent2"/>
            </a:effectRef>
            <a:fontRef idx="minor">
              <a:schemeClr val="dk1"/>
            </a:fontRef>
          </p:style>
          <p:txBody>
            <a:bodyPr vert="horz">
              <a:normAutofit/>
            </a:bodyPr>
            <a:lstStyle>
              <a:lvl1pPr marL="274320" indent="-274320" algn="l" rtl="0" eaLnBrk="1" latinLnBrk="0" hangingPunct="1">
                <a:spcBef>
                  <a:spcPts val="600"/>
                </a:spcBef>
                <a:buClr>
                  <a:schemeClr val="accent1"/>
                </a:buClr>
                <a:buSzPct val="70000"/>
                <a:buFont typeface="Wingdings" panose="05000000000000000000"/>
                <a:buChar char=""/>
                <a:defRPr kumimoji="0" sz="2400" kern="1200">
                  <a:solidFill>
                    <a:schemeClr val="dk1"/>
                  </a:solidFill>
                  <a:latin typeface="+mn-lt"/>
                  <a:ea typeface="+mn-ea"/>
                  <a:cs typeface="+mn-cs"/>
                </a:defRPr>
              </a:lvl1pPr>
              <a:lvl2pPr marL="640080" indent="-274320" algn="l" rtl="0" eaLnBrk="1" latinLnBrk="0" hangingPunct="1">
                <a:spcBef>
                  <a:spcPct val="20000"/>
                </a:spcBef>
                <a:buClr>
                  <a:schemeClr val="accent1"/>
                </a:buClr>
                <a:buSzPct val="80000"/>
                <a:buFont typeface="Wingdings 2" panose="05020102010507070707"/>
                <a:buChar char=""/>
                <a:defRPr kumimoji="0" sz="2100" kern="1200">
                  <a:solidFill>
                    <a:schemeClr val="dk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panose="05000000000000000000"/>
                <a:buChar char=""/>
                <a:defRPr kumimoji="0" sz="1800" kern="1200">
                  <a:solidFill>
                    <a:schemeClr val="dk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panose="05000000000000000000"/>
                <a:buChar char=""/>
                <a:defRPr kumimoji="0" sz="1800" kern="1200">
                  <a:solidFill>
                    <a:schemeClr val="dk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panose="05020102010507070707"/>
                <a:buChar char=""/>
                <a:defRPr kumimoji="0" sz="1600" kern="1200">
                  <a:solidFill>
                    <a:schemeClr val="dk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dk1"/>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dk1"/>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dk1"/>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dk1"/>
                  </a:solidFill>
                  <a:latin typeface="+mn-lt"/>
                  <a:ea typeface="+mn-ea"/>
                  <a:cs typeface="+mn-cs"/>
                </a:defRPr>
              </a:lvl9pPr>
            </a:lstStyle>
            <a:p>
              <a:pPr marL="0" indent="0">
                <a:buNone/>
              </a:pPr>
              <a:endParaRPr lang="zh-CN" alt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8451" y="3214523"/>
              <a:ext cx="7295009" cy="306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Example: Female Horseshoe Crabs and their Satellites</a:t>
            </a:r>
            <a:endParaRPr lang="zh-CN" altLang="en-US" dirty="0"/>
          </a:p>
        </p:txBody>
      </p:sp>
      <p:sp>
        <p:nvSpPr>
          <p:cNvPr id="3" name="内容占位符 2"/>
          <p:cNvSpPr>
            <a:spLocks noGrp="1"/>
          </p:cNvSpPr>
          <p:nvPr>
            <p:ph idx="1"/>
          </p:nvPr>
        </p:nvSpPr>
        <p:spPr/>
        <p:txBody>
          <a:bodyPr>
            <a:normAutofit lnSpcReduction="10000"/>
          </a:bodyPr>
          <a:lstStyle/>
          <a:p>
            <a:pPr algn="just">
              <a:lnSpc>
                <a:spcPct val="150000"/>
              </a:lnSpc>
              <a:spcBef>
                <a:spcPts val="0"/>
              </a:spcBef>
            </a:pPr>
            <a:r>
              <a:rPr lang="en-US" altLang="zh-CN" dirty="0"/>
              <a:t>A study of nesting horseshoe crabs (J. </a:t>
            </a:r>
            <a:r>
              <a:rPr lang="en-US" altLang="zh-CN" dirty="0" err="1"/>
              <a:t>Brockmann</a:t>
            </a:r>
            <a:r>
              <a:rPr lang="en-US" altLang="zh-CN" dirty="0"/>
              <a:t>, </a:t>
            </a:r>
            <a:r>
              <a:rPr lang="en-US" altLang="zh-CN" i="1" dirty="0"/>
              <a:t>Ethology</a:t>
            </a:r>
            <a:r>
              <a:rPr lang="en-US" altLang="zh-CN" dirty="0"/>
              <a:t>,</a:t>
            </a:r>
            <a:r>
              <a:rPr lang="en-US" altLang="zh-CN" b="1" dirty="0"/>
              <a:t>102</a:t>
            </a:r>
            <a:r>
              <a:rPr lang="en-US" altLang="zh-CN" dirty="0"/>
              <a:t>: 1–21, 1996). Each female horseshoe crab in the study had a male crab attached to her in her nest. </a:t>
            </a:r>
            <a:endParaRPr lang="en-US" altLang="zh-CN" dirty="0"/>
          </a:p>
          <a:p>
            <a:pPr marL="0" indent="0">
              <a:lnSpc>
                <a:spcPct val="150000"/>
              </a:lnSpc>
              <a:spcBef>
                <a:spcPts val="0"/>
              </a:spcBef>
              <a:buNone/>
            </a:pPr>
            <a:endParaRPr lang="en-US" altLang="zh-CN" dirty="0"/>
          </a:p>
          <a:p>
            <a:pPr algn="just">
              <a:lnSpc>
                <a:spcPct val="150000"/>
              </a:lnSpc>
              <a:spcBef>
                <a:spcPts val="0"/>
              </a:spcBef>
            </a:pPr>
            <a:r>
              <a:rPr lang="en-US" altLang="zh-CN" dirty="0"/>
              <a:t>The study investigated factors that affect whether the female crab had any other males, called </a:t>
            </a:r>
            <a:r>
              <a:rPr lang="en-US" altLang="zh-CN" i="1" dirty="0"/>
              <a:t>satellites</a:t>
            </a:r>
            <a:r>
              <a:rPr lang="en-US" altLang="zh-CN" dirty="0"/>
              <a:t>, residing nearby her. The response outcome for each female crab is her number of satellites.</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35662" y="1988842"/>
            <a:ext cx="6372707" cy="42484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 name="内容占位符 6"/>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489703" y="413332"/>
            <a:ext cx="3469313" cy="4625753"/>
          </a:xfrm>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40992" y="188640"/>
            <a:ext cx="3273828" cy="4365104"/>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49111" y="1844952"/>
            <a:ext cx="3469314" cy="4625752"/>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78982" y="1335024"/>
            <a:ext cx="3523320" cy="4697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1">
            <a:extLst>
              <a:ext uri="{28A0092B-C50C-407E-A947-70E740481C1C}">
                <a14:useLocalDpi xmlns:a14="http://schemas.microsoft.com/office/drawing/2010/main" val="0"/>
              </a:ext>
            </a:extLst>
          </a:blip>
          <a:srcRect t="1106"/>
          <a:stretch>
            <a:fillRect/>
          </a:stretch>
        </p:blipFill>
        <p:spPr>
          <a:xfrm>
            <a:off x="2495600" y="368490"/>
            <a:ext cx="7056784" cy="5580790"/>
          </a:xfrm>
        </p:spPr>
      </p:pic>
      <p:sp>
        <p:nvSpPr>
          <p:cNvPr id="7" name="TextBox 6"/>
          <p:cNvSpPr txBox="1"/>
          <p:nvPr/>
        </p:nvSpPr>
        <p:spPr>
          <a:xfrm>
            <a:off x="2495600" y="5877273"/>
            <a:ext cx="7344816" cy="646331"/>
          </a:xfrm>
          <a:prstGeom prst="rect">
            <a:avLst/>
          </a:prstGeom>
          <a:noFill/>
        </p:spPr>
        <p:txBody>
          <a:bodyPr wrap="square" rtlCol="0">
            <a:spAutoFit/>
          </a:bodyPr>
          <a:lstStyle/>
          <a:p>
            <a:r>
              <a:rPr lang="en-US" altLang="zh-CN" dirty="0">
                <a:solidFill>
                  <a:prstClr val="black"/>
                </a:solidFill>
              </a:rPr>
              <a:t>C: color    S: spine condition  W: width  </a:t>
            </a:r>
            <a:r>
              <a:rPr lang="en-US" altLang="zh-CN" dirty="0" err="1">
                <a:solidFill>
                  <a:prstClr val="black"/>
                </a:solidFill>
              </a:rPr>
              <a:t>Wt</a:t>
            </a:r>
            <a:r>
              <a:rPr lang="en-US" altLang="zh-CN" dirty="0">
                <a:solidFill>
                  <a:prstClr val="black"/>
                </a:solidFill>
              </a:rPr>
              <a:t>: weight  Sa: number of satellites</a:t>
            </a:r>
            <a:endParaRPr lang="zh-CN" altLang="en-US" dirty="0">
              <a:solidFill>
                <a:prstClr val="black"/>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Extensions</a:t>
            </a:r>
            <a:endParaRPr lang="zh-CN" altLang="en-US" dirty="0"/>
          </a:p>
        </p:txBody>
      </p:sp>
      <p:sp>
        <p:nvSpPr>
          <p:cNvPr id="3" name="内容占位符 2"/>
          <p:cNvSpPr>
            <a:spLocks noGrp="1"/>
          </p:cNvSpPr>
          <p:nvPr>
            <p:ph idx="1"/>
          </p:nvPr>
        </p:nvSpPr>
        <p:spPr/>
        <p:txBody>
          <a:bodyPr>
            <a:normAutofit lnSpcReduction="10000"/>
          </a:bodyPr>
          <a:lstStyle/>
          <a:p>
            <a:pPr>
              <a:lnSpc>
                <a:spcPct val="150000"/>
              </a:lnSpc>
              <a:buFont typeface="Wingdings" panose="05000000000000000000" pitchFamily="2" charset="2"/>
              <a:buChar char="l"/>
            </a:pPr>
            <a:r>
              <a:rPr lang="en-US" altLang="zh-CN" sz="2800" b="1" kern="0" dirty="0">
                <a:latin typeface="Times New Roman" panose="02020603050405020304" pitchFamily="18" charset="0"/>
                <a:ea typeface="宋体" panose="02010600030101010101" pitchFamily="2" charset="-122"/>
              </a:rPr>
              <a:t> Big Data</a:t>
            </a:r>
            <a:endParaRPr lang="en-US" altLang="zh-CN" sz="2800" b="1" kern="0" dirty="0">
              <a:latin typeface="Times New Roman" panose="02020603050405020304" pitchFamily="18" charset="0"/>
              <a:ea typeface="宋体" panose="02010600030101010101" pitchFamily="2" charset="-122"/>
            </a:endParaRPr>
          </a:p>
          <a:p>
            <a:pPr>
              <a:lnSpc>
                <a:spcPct val="150000"/>
              </a:lnSpc>
              <a:buFont typeface="Wingdings" panose="05000000000000000000" pitchFamily="2" charset="2"/>
              <a:buChar char="l"/>
            </a:pPr>
            <a:r>
              <a:rPr lang="en-US" altLang="zh-CN" sz="2800" b="1" kern="0" dirty="0">
                <a:latin typeface="Times New Roman" panose="02020603050405020304" pitchFamily="18" charset="0"/>
                <a:ea typeface="宋体" panose="02010600030101010101" pitchFamily="2" charset="-122"/>
              </a:rPr>
              <a:t> Machine Learning</a:t>
            </a:r>
            <a:endParaRPr lang="en-US" altLang="zh-CN" sz="2800" b="1" kern="0" dirty="0">
              <a:latin typeface="Times New Roman" panose="02020603050405020304" pitchFamily="18" charset="0"/>
              <a:ea typeface="宋体" panose="02010600030101010101" pitchFamily="2" charset="-122"/>
            </a:endParaRPr>
          </a:p>
          <a:p>
            <a:pPr>
              <a:lnSpc>
                <a:spcPct val="150000"/>
              </a:lnSpc>
              <a:buFont typeface="Wingdings" panose="05000000000000000000" pitchFamily="2" charset="2"/>
              <a:buChar char="l"/>
            </a:pPr>
            <a:r>
              <a:rPr lang="en-US" altLang="zh-CN" sz="2800" b="1" kern="0" dirty="0">
                <a:latin typeface="Times New Roman" panose="02020603050405020304" pitchFamily="18" charset="0"/>
                <a:ea typeface="宋体" panose="02010600030101010101" pitchFamily="2" charset="-122"/>
              </a:rPr>
              <a:t> Deep learning</a:t>
            </a:r>
            <a:endParaRPr lang="en-US" altLang="zh-CN" sz="2800" b="1" kern="0" dirty="0">
              <a:latin typeface="Times New Roman" panose="02020603050405020304" pitchFamily="18" charset="0"/>
              <a:ea typeface="宋体" panose="02010600030101010101" pitchFamily="2" charset="-122"/>
            </a:endParaRPr>
          </a:p>
          <a:p>
            <a:pPr>
              <a:lnSpc>
                <a:spcPct val="150000"/>
              </a:lnSpc>
              <a:buFont typeface="Wingdings" panose="05000000000000000000" pitchFamily="2" charset="2"/>
              <a:buChar char="l"/>
            </a:pPr>
            <a:r>
              <a:rPr lang="en-US" altLang="zh-CN" sz="2800" b="1" kern="0" dirty="0">
                <a:latin typeface="Times New Roman" panose="02020603050405020304" pitchFamily="18" charset="0"/>
                <a:ea typeface="宋体" panose="02010600030101010101" pitchFamily="2" charset="-122"/>
              </a:rPr>
              <a:t> Supervised</a:t>
            </a:r>
            <a:endParaRPr lang="en-US" altLang="zh-CN" sz="2800" b="1" kern="0" dirty="0">
              <a:latin typeface="Times New Roman" panose="02020603050405020304" pitchFamily="18" charset="0"/>
              <a:ea typeface="宋体" panose="02010600030101010101" pitchFamily="2" charset="-122"/>
            </a:endParaRPr>
          </a:p>
          <a:p>
            <a:pPr>
              <a:lnSpc>
                <a:spcPct val="150000"/>
              </a:lnSpc>
              <a:buFont typeface="Wingdings" panose="05000000000000000000" pitchFamily="2" charset="2"/>
              <a:buChar char="l"/>
            </a:pPr>
            <a:r>
              <a:rPr lang="en-US" altLang="zh-CN" sz="2800" b="1" kern="0" dirty="0">
                <a:latin typeface="Times New Roman" panose="02020603050405020304" pitchFamily="18" charset="0"/>
                <a:ea typeface="宋体" panose="02010600030101010101" pitchFamily="2" charset="-122"/>
              </a:rPr>
              <a:t> Unsupervised</a:t>
            </a:r>
            <a:endParaRPr lang="en-US" altLang="zh-CN" sz="2800" b="1" kern="0" dirty="0">
              <a:latin typeface="Times New Roman" panose="02020603050405020304" pitchFamily="18" charset="0"/>
              <a:ea typeface="宋体" panose="02010600030101010101" pitchFamily="2" charset="-122"/>
            </a:endParaRPr>
          </a:p>
          <a:p>
            <a:pPr>
              <a:lnSpc>
                <a:spcPct val="150000"/>
              </a:lnSpc>
              <a:buFont typeface="Wingdings" panose="05000000000000000000" pitchFamily="2" charset="2"/>
              <a:buChar char="l"/>
            </a:pPr>
            <a:r>
              <a:rPr lang="en-US" altLang="zh-CN" sz="2800" b="1" kern="0" dirty="0">
                <a:effectLst/>
                <a:latin typeface="Times New Roman" panose="02020603050405020304" pitchFamily="18" charset="0"/>
                <a:ea typeface="宋体" panose="02010600030101010101" pitchFamily="2" charset="-122"/>
              </a:rPr>
              <a:t> Anomaly (Outlier) Detection</a:t>
            </a:r>
            <a:endParaRPr lang="en-US" altLang="zh-CN" sz="3200" dirty="0"/>
          </a:p>
          <a:p>
            <a:pPr marL="0" indent="0">
              <a:buNone/>
            </a:pP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1443" y="1358598"/>
            <a:ext cx="10317033" cy="4643506"/>
          </a:xfrm>
        </p:spPr>
        <p:txBody>
          <a:bodyPr>
            <a:normAutofit/>
          </a:bodyPr>
          <a:lstStyle/>
          <a:p>
            <a:pPr>
              <a:lnSpc>
                <a:spcPct val="120000"/>
              </a:lnSpc>
            </a:pPr>
            <a:r>
              <a:rPr lang="en-US" altLang="zh-CN" sz="3200" b="1" dirty="0">
                <a:latin typeface="Arial" panose="020B0604020202020204" pitchFamily="34" charset="0"/>
                <a:cs typeface="Arial" panose="020B0604020202020204" pitchFamily="34" charset="0"/>
              </a:rPr>
              <a:t>MNIST</a:t>
            </a:r>
            <a:endParaRPr lang="en-US" altLang="zh-CN" sz="3200" b="1" dirty="0">
              <a:latin typeface="Arial" panose="020B0604020202020204" pitchFamily="34" charset="0"/>
              <a:cs typeface="Arial" panose="020B0604020202020204" pitchFamily="34" charset="0"/>
            </a:endParaRPr>
          </a:p>
          <a:p>
            <a:pPr marL="0" indent="0" algn="just">
              <a:lnSpc>
                <a:spcPct val="120000"/>
              </a:lnSpc>
              <a:buNone/>
            </a:pPr>
            <a:r>
              <a:rPr lang="en-US" altLang="zh-CN" sz="2400" dirty="0">
                <a:effectLst/>
                <a:latin typeface="Arial" panose="020B0604020202020204" pitchFamily="34" charset="0"/>
                <a:cs typeface="Arial" panose="020B0604020202020204" pitchFamily="34" charset="0"/>
              </a:rPr>
              <a:t>The MNIST database (Modified </a:t>
            </a:r>
            <a:r>
              <a:rPr lang="en-US" altLang="zh-CN" sz="2400" u="none" strike="noStrike" dirty="0">
                <a:effectLst/>
                <a:latin typeface="Arial" panose="020B0604020202020204" pitchFamily="34" charset="0"/>
                <a:cs typeface="Arial" panose="020B0604020202020204" pitchFamily="34" charset="0"/>
              </a:rPr>
              <a:t>National Institute of Standards and Technology</a:t>
            </a:r>
            <a:r>
              <a:rPr lang="en-US" altLang="zh-CN" sz="2400" dirty="0">
                <a:effectLst/>
                <a:latin typeface="Arial" panose="020B0604020202020204" pitchFamily="34" charset="0"/>
                <a:cs typeface="Arial" panose="020B0604020202020204" pitchFamily="34" charset="0"/>
              </a:rPr>
              <a:t> database) is a large </a:t>
            </a:r>
            <a:r>
              <a:rPr lang="en-US" altLang="zh-CN" sz="2400" u="none" strike="noStrike" dirty="0">
                <a:effectLst/>
                <a:latin typeface="Arial" panose="020B0604020202020204" pitchFamily="34" charset="0"/>
                <a:cs typeface="Arial" panose="020B0604020202020204" pitchFamily="34" charset="0"/>
              </a:rPr>
              <a:t>database</a:t>
            </a:r>
            <a:r>
              <a:rPr lang="en-US" altLang="zh-CN" sz="2400" dirty="0">
                <a:effectLst/>
                <a:latin typeface="Arial" panose="020B0604020202020204" pitchFamily="34" charset="0"/>
                <a:cs typeface="Arial" panose="020B0604020202020204" pitchFamily="34" charset="0"/>
              </a:rPr>
              <a:t> of handwritten digits that is commonly used for </a:t>
            </a:r>
            <a:r>
              <a:rPr lang="en-US" altLang="zh-CN" sz="2400" u="none" strike="noStrike" dirty="0">
                <a:effectLst/>
                <a:latin typeface="Arial" panose="020B0604020202020204" pitchFamily="34" charset="0"/>
                <a:cs typeface="Arial" panose="020B0604020202020204" pitchFamily="34" charset="0"/>
              </a:rPr>
              <a:t>training</a:t>
            </a:r>
            <a:r>
              <a:rPr lang="en-US" altLang="zh-CN" sz="2400" dirty="0">
                <a:effectLst/>
                <a:latin typeface="Arial" panose="020B0604020202020204" pitchFamily="34" charset="0"/>
                <a:cs typeface="Arial" panose="020B0604020202020204" pitchFamily="34" charset="0"/>
              </a:rPr>
              <a:t> various </a:t>
            </a:r>
            <a:r>
              <a:rPr lang="en-US" altLang="zh-CN" sz="2400" u="none" strike="noStrike" dirty="0">
                <a:effectLst/>
                <a:latin typeface="Arial" panose="020B0604020202020204" pitchFamily="34" charset="0"/>
                <a:cs typeface="Arial" panose="020B0604020202020204" pitchFamily="34" charset="0"/>
              </a:rPr>
              <a:t>image processing</a:t>
            </a:r>
            <a:r>
              <a:rPr lang="en-US" altLang="zh-CN" sz="2400" dirty="0">
                <a:effectLst/>
                <a:latin typeface="Arial" panose="020B0604020202020204" pitchFamily="34" charset="0"/>
                <a:cs typeface="Arial" panose="020B0604020202020204" pitchFamily="34" charset="0"/>
              </a:rPr>
              <a:t> systems.</a:t>
            </a:r>
            <a:r>
              <a:rPr lang="en-US" altLang="zh-CN" sz="2400" baseline="30000" dirty="0">
                <a:effectLst/>
                <a:latin typeface="Arial" panose="020B0604020202020204" pitchFamily="34" charset="0"/>
                <a:cs typeface="Arial" panose="020B0604020202020204" pitchFamily="34" charset="0"/>
              </a:rPr>
              <a:t> </a:t>
            </a:r>
            <a:r>
              <a:rPr lang="en-US" altLang="zh-CN" sz="2400" dirty="0">
                <a:effectLst/>
                <a:latin typeface="Arial" panose="020B0604020202020204" pitchFamily="34" charset="0"/>
                <a:cs typeface="Arial" panose="020B0604020202020204" pitchFamily="34" charset="0"/>
              </a:rPr>
              <a:t>It was created by "re-mixing" the samples from NIST's original datasets. The MNIST database contains 60,000 training images and 10,000 testing images.  </a:t>
            </a:r>
            <a:r>
              <a:rPr lang="en-US" altLang="zh-CN" sz="2400" b="0" i="0" dirty="0">
                <a:effectLst/>
                <a:latin typeface="Arial" panose="020B0604020202020204" pitchFamily="34" charset="0"/>
                <a:cs typeface="Arial" panose="020B0604020202020204" pitchFamily="34" charset="0"/>
              </a:rPr>
              <a:t>----Wikipedia</a:t>
            </a:r>
            <a:endParaRPr lang="zh-CN" altLang="en-US" sz="2400" dirty="0">
              <a:latin typeface="Arial" panose="020B0604020202020204" pitchFamily="34" charset="0"/>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52223" y="430224"/>
            <a:ext cx="7887553" cy="591566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3448" y="1217756"/>
            <a:ext cx="9720073" cy="5286619"/>
          </a:xfrm>
        </p:spPr>
        <p:txBody>
          <a:bodyPr>
            <a:normAutofit/>
          </a:bodyPr>
          <a:lstStyle/>
          <a:p>
            <a:pPr>
              <a:lnSpc>
                <a:spcPct val="120000"/>
              </a:lnSpc>
            </a:pPr>
            <a:r>
              <a:rPr lang="en-US" altLang="zh-CN" sz="3200" b="1" dirty="0">
                <a:latin typeface="Arial" panose="020B0604020202020204" pitchFamily="34" charset="0"/>
                <a:cs typeface="Arial" panose="020B0604020202020204" pitchFamily="34" charset="0"/>
              </a:rPr>
              <a:t>CIFA-10</a:t>
            </a:r>
            <a:endParaRPr lang="en-US" altLang="zh-CN" sz="3200" b="1" dirty="0">
              <a:latin typeface="Arial" panose="020B0604020202020204" pitchFamily="34" charset="0"/>
              <a:cs typeface="Arial" panose="020B0604020202020204" pitchFamily="34" charset="0"/>
            </a:endParaRPr>
          </a:p>
          <a:p>
            <a:pPr marL="0" indent="0" algn="just">
              <a:lnSpc>
                <a:spcPct val="120000"/>
              </a:lnSpc>
              <a:buNone/>
            </a:pPr>
            <a:r>
              <a:rPr lang="en-US" altLang="zh-CN" sz="2400" i="0" dirty="0">
                <a:effectLst/>
                <a:latin typeface="Arial" panose="020B0604020202020204" pitchFamily="34" charset="0"/>
                <a:cs typeface="Arial" panose="020B0604020202020204" pitchFamily="34" charset="0"/>
              </a:rPr>
              <a:t>The CIFAR-10 dataset (</a:t>
            </a:r>
            <a:r>
              <a:rPr lang="en-US" altLang="zh-CN" sz="2400" i="0" u="none" strike="noStrike" dirty="0">
                <a:effectLst/>
                <a:latin typeface="Arial" panose="020B0604020202020204" pitchFamily="34" charset="0"/>
                <a:cs typeface="Arial" panose="020B0604020202020204" pitchFamily="34" charset="0"/>
              </a:rPr>
              <a:t>Canadian Institute For Advanced Research</a:t>
            </a:r>
            <a:r>
              <a:rPr lang="en-US" altLang="zh-CN" sz="2400" i="0" dirty="0">
                <a:effectLst/>
                <a:latin typeface="Arial" panose="020B0604020202020204" pitchFamily="34" charset="0"/>
                <a:cs typeface="Arial" panose="020B0604020202020204" pitchFamily="34" charset="0"/>
              </a:rPr>
              <a:t>) is a collection of images that are commonly used to train </a:t>
            </a:r>
            <a:r>
              <a:rPr lang="en-US" altLang="zh-CN" sz="2400" i="0" u="none" strike="noStrike" dirty="0">
                <a:effectLst/>
                <a:latin typeface="Arial" panose="020B0604020202020204" pitchFamily="34" charset="0"/>
                <a:cs typeface="Arial" panose="020B0604020202020204" pitchFamily="34" charset="0"/>
              </a:rPr>
              <a:t>machine learning</a:t>
            </a:r>
            <a:r>
              <a:rPr lang="en-US" altLang="zh-CN" sz="2400" i="0" dirty="0">
                <a:effectLst/>
                <a:latin typeface="Arial" panose="020B0604020202020204" pitchFamily="34" charset="0"/>
                <a:cs typeface="Arial" panose="020B0604020202020204" pitchFamily="34" charset="0"/>
              </a:rPr>
              <a:t> and </a:t>
            </a:r>
            <a:r>
              <a:rPr lang="en-US" altLang="zh-CN" sz="2400" i="0" u="none" strike="noStrike" dirty="0">
                <a:effectLst/>
                <a:latin typeface="Arial" panose="020B0604020202020204" pitchFamily="34" charset="0"/>
                <a:cs typeface="Arial" panose="020B0604020202020204" pitchFamily="34" charset="0"/>
              </a:rPr>
              <a:t>computer vision</a:t>
            </a:r>
            <a:r>
              <a:rPr lang="en-US" altLang="zh-CN" sz="2400" i="0" dirty="0">
                <a:effectLst/>
                <a:latin typeface="Arial" panose="020B0604020202020204" pitchFamily="34" charset="0"/>
                <a:cs typeface="Arial" panose="020B0604020202020204" pitchFamily="34" charset="0"/>
              </a:rPr>
              <a:t> algorithms. It is one of the most widely used datasets for machine learning research. The CIFAR-10 dataset contains 60,000 32x32 color images in 10 different classes. The 10 different classes represent airplanes, cars, birds, cats, deer, dogs, frogs, horses, ships, and trucks. There are 6,000 images of each class.                      </a:t>
            </a:r>
            <a:r>
              <a:rPr lang="en-US" altLang="zh-CN" sz="2400" b="0" i="0" dirty="0">
                <a:effectLst/>
                <a:latin typeface="Arial" panose="020B0604020202020204" pitchFamily="34" charset="0"/>
                <a:cs typeface="Arial" panose="020B0604020202020204" pitchFamily="34" charset="0"/>
              </a:rPr>
              <a:t>----Wikipedia</a:t>
            </a:r>
            <a:endParaRPr lang="en-US" altLang="zh-CN" sz="2400" dirty="0">
              <a:latin typeface="Arial" panose="020B0604020202020204" pitchFamily="34" charset="0"/>
              <a:cs typeface="Arial" panose="020B0604020202020204" pitchFamily="34" charset="0"/>
            </a:endParaRPr>
          </a:p>
          <a:p>
            <a:pPr marL="0" indent="0">
              <a:buNone/>
            </a:pP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66781" y="444013"/>
            <a:ext cx="8058437" cy="618833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5400" b="1" dirty="0"/>
              <a:t>Think</a:t>
            </a:r>
            <a:endParaRPr lang="zh-CN" altLang="en-US" sz="5400" b="1" dirty="0"/>
          </a:p>
        </p:txBody>
      </p:sp>
      <p:sp>
        <p:nvSpPr>
          <p:cNvPr id="3" name="内容占位符 2"/>
          <p:cNvSpPr>
            <a:spLocks noGrp="1"/>
          </p:cNvSpPr>
          <p:nvPr>
            <p:ph idx="1"/>
          </p:nvPr>
        </p:nvSpPr>
        <p:spPr/>
        <p:txBody>
          <a:bodyPr>
            <a:normAutofit/>
          </a:bodyPr>
          <a:lstStyle/>
          <a:p>
            <a:pPr>
              <a:lnSpc>
                <a:spcPct val="150000"/>
              </a:lnSpc>
              <a:buFont typeface="Wingdings" panose="05000000000000000000" pitchFamily="2" charset="2"/>
              <a:buChar char="l"/>
            </a:pPr>
            <a:r>
              <a:rPr lang="en-US" altLang="zh-CN" sz="3200" dirty="0">
                <a:latin typeface="Times New Roman" panose="02020603050405020304" pitchFamily="18" charset="0"/>
                <a:cs typeface="Times New Roman" panose="02020603050405020304" pitchFamily="18" charset="0"/>
              </a:rPr>
              <a:t> What will we learn in this course?</a:t>
            </a:r>
            <a:endParaRPr lang="en-US" altLang="zh-CN" sz="32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l"/>
            </a:pPr>
            <a:r>
              <a:rPr lang="en-US" altLang="zh-CN" sz="3200" dirty="0">
                <a:latin typeface="Times New Roman" panose="02020603050405020304" pitchFamily="18" charset="0"/>
                <a:cs typeface="Times New Roman" panose="02020603050405020304" pitchFamily="18" charset="0"/>
              </a:rPr>
              <a:t> How to use them in real data analysis?</a:t>
            </a:r>
            <a:endParaRPr lang="en-US" altLang="zh-CN" sz="32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l"/>
            </a:pPr>
            <a:r>
              <a:rPr lang="en-US" altLang="zh-CN" sz="3200" dirty="0">
                <a:latin typeface="Times New Roman" panose="02020603050405020304" pitchFamily="18" charset="0"/>
                <a:cs typeface="Times New Roman" panose="02020603050405020304" pitchFamily="18" charset="0"/>
              </a:rPr>
              <a:t> What else can we do? (innovation)</a:t>
            </a:r>
            <a:endParaRPr lang="zh-CN" alt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31850" y="617388"/>
            <a:ext cx="10515600" cy="2852737"/>
          </a:xfrm>
        </p:spPr>
        <p:txBody>
          <a:bodyPr/>
          <a:lstStyle/>
          <a:p>
            <a:pPr algn="ctr"/>
            <a:r>
              <a:rPr lang="en-US" altLang="zh-CN" b="1" dirty="0"/>
              <a:t>Thank you!</a:t>
            </a:r>
            <a:endParaRPr lang="zh-CN" altLang="en-US" b="1" dirty="0"/>
          </a:p>
        </p:txBody>
      </p:sp>
    </p:spTree>
  </p:cSld>
  <p:clrMapOvr>
    <a:masterClrMapping/>
  </p:clrMapOvr>
</p:sld>
</file>

<file path=ppt/tags/tag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1242_1*a*1"/>
  <p:tag name="KSO_WM_TEMPLATE_CATEGORY" val="custom"/>
  <p:tag name="KSO_WM_TEMPLATE_INDEX" val="20231242"/>
  <p:tag name="KSO_WM_UNIT_LAYERLEVEL" val="1"/>
  <p:tag name="KSO_WM_TAG_VERSION" val="3.0"/>
  <p:tag name="KSO_WM_BEAUTIFY_FLAG" val="#wm#"/>
  <p:tag name="KSO_WM_UNIT_PRESET_TEXT" val="单击此处&#10;添加标题内容"/>
  <p:tag name="KSO_WM_UNIT_TEXT_TYPE" val="1"/>
</p:tagLst>
</file>

<file path=ppt/tags/tag2.xml><?xml version="1.0" encoding="utf-8"?>
<p:tagLst xmlns:p="http://schemas.openxmlformats.org/presentationml/2006/main">
  <p:tag name="KSO_WM_UNIT_VALUE" val="517*1520"/>
  <p:tag name="KSO_WM_UNIT_HIGHLIGHT" val="0"/>
  <p:tag name="KSO_WM_UNIT_COMPATIBLE" val="0"/>
  <p:tag name="KSO_WM_UNIT_DIAGRAM_ISNUMVISUAL" val="0"/>
  <p:tag name="KSO_WM_UNIT_DIAGRAM_ISREFERUNIT" val="0"/>
  <p:tag name="KSO_WM_UNIT_TYPE" val="d"/>
  <p:tag name="KSO_WM_UNIT_INDEX" val="1"/>
  <p:tag name="KSO_WM_UNIT_ID" val="custom20231242_1*d*1"/>
  <p:tag name="KSO_WM_TEMPLATE_CATEGORY" val="custom"/>
  <p:tag name="KSO_WM_TEMPLATE_INDEX" val="20231242"/>
  <p:tag name="KSO_WM_UNIT_LAYERLEVEL" val="1"/>
  <p:tag name="KSO_WM_TAG_VERSION" val="3.0"/>
  <p:tag name="KSO_WM_BEAUTIFY_FLAG" val="#wm#"/>
  <p:tag name="KSO_WM_UNIT_PICTURE_SUBTYPE" val="b"/>
</p:tagLst>
</file>

<file path=ppt/tags/tag3.xml><?xml version="1.0" encoding="utf-8"?>
<p:tagLst xmlns:p="http://schemas.openxmlformats.org/presentationml/2006/main">
  <p:tag name="KSO_WM_BEAUTIFY_FLAG" val="#wm#"/>
  <p:tag name="KSO_WM_UNIT_VALUE" val="1025*742"/>
  <p:tag name="KSO_WM_UNIT_HIGHLIGHT" val="0"/>
  <p:tag name="KSO_WM_UNIT_COMPATIBLE" val="0"/>
  <p:tag name="KSO_WM_UNIT_DIAGRAM_ISNUMVISUAL" val="0"/>
  <p:tag name="KSO_WM_UNIT_DIAGRAM_ISREFERUNIT" val="0"/>
  <p:tag name="KSO_WM_UNIT_TYPE" val="d"/>
  <p:tag name="KSO_WM_UNIT_INDEX" val="3"/>
  <p:tag name="KSO_WM_UNIT_ID" val="custom20231242_1*d*3"/>
  <p:tag name="KSO_WM_TEMPLATE_CATEGORY" val="custom"/>
  <p:tag name="KSO_WM_TEMPLATE_INDEX" val="20231242"/>
  <p:tag name="KSO_WM_UNIT_LAYERLEVEL" val="1"/>
  <p:tag name="KSO_WM_TAG_VERSION" val="3.0"/>
  <p:tag name="KSO_WM_UNIT_PICTURE_SUBTYPE" val="b"/>
</p:tagLst>
</file>

<file path=ppt/tags/tag4.xml><?xml version="1.0" encoding="utf-8"?>
<p:tagLst xmlns:p="http://schemas.openxmlformats.org/presentationml/2006/main">
  <p:tag name="KSO_WM_BEAUTIFY_FLAG" val="#wm#"/>
  <p:tag name="KSO_WM_UNIT_VALUE" val="1025*751"/>
  <p:tag name="KSO_WM_UNIT_HIGHLIGHT" val="0"/>
  <p:tag name="KSO_WM_UNIT_COMPATIBLE" val="0"/>
  <p:tag name="KSO_WM_UNIT_DIAGRAM_ISNUMVISUAL" val="0"/>
  <p:tag name="KSO_WM_UNIT_DIAGRAM_ISREFERUNIT" val="0"/>
  <p:tag name="KSO_WM_UNIT_TYPE" val="d"/>
  <p:tag name="KSO_WM_UNIT_INDEX" val="2"/>
  <p:tag name="KSO_WM_UNIT_ID" val="custom20231242_1*d*2"/>
  <p:tag name="KSO_WM_TEMPLATE_CATEGORY" val="custom"/>
  <p:tag name="KSO_WM_TEMPLATE_INDEX" val="20231242"/>
  <p:tag name="KSO_WM_UNIT_LAYERLEVEL" val="1"/>
  <p:tag name="KSO_WM_TAG_VERSION" val="3.0"/>
  <p:tag name="KSO_WM_UNIT_PICTURE_SUBTYPE" val="b"/>
</p:tagLst>
</file>

<file path=ppt/tags/tag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1242_1*f*1"/>
  <p:tag name="KSO_WM_TEMPLATE_CATEGORY" val="custom"/>
  <p:tag name="KSO_WM_TEMPLATE_INDEX" val="20231242"/>
  <p:tag name="KSO_WM_UNIT_LAYERLEVEL" val="1"/>
  <p:tag name="KSO_WM_TAG_VERSION" val="3.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TYPE" val="1"/>
  <p:tag name="KSO_WM_UNIT_TEXT_LAYER_COUNT" val="1"/>
</p:tagLst>
</file>

<file path=ppt/tags/tag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1242_1*i*1"/>
  <p:tag name="KSO_WM_TEMPLATE_CATEGORY" val="custom"/>
  <p:tag name="KSO_WM_TEMPLATE_INDEX" val="20231242"/>
  <p:tag name="KSO_WM_UNIT_LAYERLEVEL" val="1"/>
  <p:tag name="KSO_WM_TAG_VERSION" val="3.0"/>
  <p:tag name="KSO_WM_UNIT_TYPE" val="i"/>
  <p:tag name="KSO_WM_UNIT_INDEX" val="1"/>
</p:tagLst>
</file>

<file path=ppt/tags/tag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1242_1*i*2"/>
  <p:tag name="KSO_WM_TEMPLATE_CATEGORY" val="custom"/>
  <p:tag name="KSO_WM_TEMPLATE_INDEX" val="20231242"/>
  <p:tag name="KSO_WM_UNIT_LAYERLEVEL" val="1"/>
  <p:tag name="KSO_WM_TAG_VERSION" val="3.0"/>
  <p:tag name="KSO_WM_UNIT_TYPE" val="i"/>
  <p:tag name="KSO_WM_UNIT_INDEX" val="2"/>
</p:tagLst>
</file>

<file path=ppt/tags/tag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1242_1*i*4"/>
  <p:tag name="KSO_WM_TEMPLATE_CATEGORY" val="custom"/>
  <p:tag name="KSO_WM_TEMPLATE_INDEX" val="20231242"/>
  <p:tag name="KSO_WM_UNIT_LAYERLEVEL" val="1"/>
  <p:tag name="KSO_WM_TAG_VERSION" val="3.0"/>
  <p:tag name="KSO_WM_UNIT_TYPE" val="i"/>
  <p:tag name="KSO_WM_UNIT_INDEX" val="4"/>
</p:tagLst>
</file>

<file path=ppt/tags/tag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1242_1*i*5"/>
  <p:tag name="KSO_WM_TEMPLATE_CATEGORY" val="custom"/>
  <p:tag name="KSO_WM_TEMPLATE_INDEX" val="20231242"/>
  <p:tag name="KSO_WM_UNIT_LAYERLEVEL" val="1"/>
  <p:tag name="KSO_WM_TAG_VERSION" val="3.0"/>
  <p:tag name="KSO_WM_UNIT_TYPE" val="i"/>
  <p:tag name="KSO_WM_UNIT_INDEX" val="5"/>
</p:tagLst>
</file>

<file path=ppt/tags/tag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custom20231242_1*i*3"/>
  <p:tag name="KSO_WM_TEMPLATE_CATEGORY" val="custom"/>
  <p:tag name="KSO_WM_TEMPLATE_INDEX" val="20231242"/>
  <p:tag name="KSO_WM_UNIT_LAYERLEVEL" val="1"/>
  <p:tag name="KSO_WM_TAG_VERSION" val="3.0"/>
</p:tagLst>
</file>

<file path=ppt/tags/tag11.xml><?xml version="1.0" encoding="utf-8"?>
<p:tagLst xmlns:p="http://schemas.openxmlformats.org/presentationml/2006/main">
  <p:tag name="KSO_WM_BEAUTIFY_FLAG" val="#wm#"/>
  <p:tag name="KSO_WM_TEMPLATE_CATEGORY" val="custom"/>
  <p:tag name="KSO_WM_TEMPLATE_INDEX" val="20231242"/>
  <p:tag name="KSO_WM_SLIDE_ID" val="custom20231242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15*445"/>
  <p:tag name="KSO_WM_SLIDE_POSITION" val="105*54"/>
  <p:tag name="KSO_WM_TAG_VERSION" val="3.0"/>
  <p:tag name="KSO_WM_SLIDE_LAYOUT" val="a_d_f"/>
  <p:tag name="KSO_WM_SLIDE_LAYOUT_CNT" val="1_3_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10788</Words>
  <Application>WPS 演示</Application>
  <PresentationFormat>宽屏</PresentationFormat>
  <Paragraphs>276</Paragraphs>
  <Slides>35</Slides>
  <Notes>4</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35</vt:i4>
      </vt:variant>
    </vt:vector>
  </HeadingPairs>
  <TitlesOfParts>
    <vt:vector size="52" baseType="lpstr">
      <vt:lpstr>Arial</vt:lpstr>
      <vt:lpstr>宋体</vt:lpstr>
      <vt:lpstr>Wingdings</vt:lpstr>
      <vt:lpstr>Calibri</vt:lpstr>
      <vt:lpstr>Times New Roman</vt:lpstr>
      <vt:lpstr>黑体</vt:lpstr>
      <vt:lpstr>Calibri</vt:lpstr>
      <vt:lpstr>等线 Light</vt:lpstr>
      <vt:lpstr>等线</vt:lpstr>
      <vt:lpstr>微软雅黑</vt:lpstr>
      <vt:lpstr>Arial Unicode MS</vt:lpstr>
      <vt:lpstr>PMingLiU</vt:lpstr>
      <vt:lpstr>PMingLiU-ExtB</vt:lpstr>
      <vt:lpstr>Arial Unicode MS</vt:lpstr>
      <vt:lpstr>Wingdings</vt:lpstr>
      <vt:lpstr>Wingdings 2</vt:lpstr>
      <vt:lpstr>Office 主题​​</vt:lpstr>
      <vt:lpstr>Probability and Statistics</vt:lpstr>
      <vt:lpstr>Course Description</vt:lpstr>
      <vt:lpstr>Course Objectives</vt:lpstr>
      <vt:lpstr>Course Topics</vt:lpstr>
      <vt:lpstr>Assessment</vt:lpstr>
      <vt:lpstr>Homeworks Requirements </vt:lpstr>
      <vt:lpstr>In-class Quiz Requirements </vt:lpstr>
      <vt:lpstr>Homeworks and quizzes score grades</vt:lpstr>
      <vt:lpstr>Final Exam</vt:lpstr>
      <vt:lpstr>Textbook</vt:lpstr>
      <vt:lpstr>Reference</vt:lpstr>
      <vt:lpstr>PowerPoint 演示文稿</vt:lpstr>
      <vt:lpstr>PowerPoint 演示文稿</vt:lpstr>
      <vt:lpstr>Reading List</vt:lpstr>
      <vt:lpstr>What is Statistics all about?</vt:lpstr>
      <vt:lpstr>What is Statistics all about?</vt:lpstr>
      <vt:lpstr>PowerPoint 演示文稿</vt:lpstr>
      <vt:lpstr>Statistics </vt:lpstr>
      <vt:lpstr>PowerPoint 演示文稿</vt:lpstr>
      <vt:lpstr>PowerPoint 演示文稿</vt:lpstr>
      <vt:lpstr>PowerPoint 演示文稿</vt:lpstr>
      <vt:lpstr>PowerPoint 演示文稿</vt:lpstr>
      <vt:lpstr>Example: Fisher’s Tea Taster</vt:lpstr>
      <vt:lpstr>Example: Aspirin and Heart Attacks</vt:lpstr>
      <vt:lpstr>Example: Aspirin and Heart Attacks</vt:lpstr>
      <vt:lpstr>Example: Female Horseshoe Crabs and their Satellites</vt:lpstr>
      <vt:lpstr>PowerPoint 演示文稿</vt:lpstr>
      <vt:lpstr>PowerPoint 演示文稿</vt:lpstr>
      <vt:lpstr>Extensions</vt:lpstr>
      <vt:lpstr>PowerPoint 演示文稿</vt:lpstr>
      <vt:lpstr>PowerPoint 演示文稿</vt:lpstr>
      <vt:lpstr>PowerPoint 演示文稿</vt:lpstr>
      <vt:lpstr>PowerPoint 演示文稿</vt:lpstr>
      <vt:lpstr>Think</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Statistics</dc:title>
  <dc:creator>Zhou, Min</dc:creator>
  <cp:lastModifiedBy>华</cp:lastModifiedBy>
  <cp:revision>83</cp:revision>
  <dcterms:created xsi:type="dcterms:W3CDTF">2020-09-18T04:26:00Z</dcterms:created>
  <dcterms:modified xsi:type="dcterms:W3CDTF">2026-08-31T05:38:43Z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C0EE50D3B2214B368B24384803170C9B_12</vt:lpwstr>
  </property>
  <property fmtid="{D5CDD505-2E9C-101B-9397-08002B2CF9AE}" pid="3" name="KSOProductBuildVer">
    <vt:lpwstr>2052-12.1.0.28043</vt:lpwstr>
  </property>
</Properties>
</file>